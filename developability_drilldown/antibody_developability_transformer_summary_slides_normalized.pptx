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Slides/_rels/notesSlide4.xml.rels" ContentType="application/vnd.openxmlformats-package.relationships+xml"/>
  <Override PartName="/ppt/notesSlides/_rels/notesSlide3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Noto Sans CJK JP"/>
              </a:rPr>
              <a:t>Click to move the slide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Noto Sans CJK JP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4"/>
          <p:cNvSpPr>
            <a:spLocks noGrp="1"/>
          </p:cNvSpPr>
          <p:nvPr>
            <p:ph type="dt" idx="2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5"/>
          <p:cNvSpPr>
            <a:spLocks noGrp="1"/>
          </p:cNvSpPr>
          <p:nvPr>
            <p:ph type="ftr" idx="3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6"/>
          <p:cNvSpPr>
            <a:spLocks noGrp="1"/>
          </p:cNvSpPr>
          <p:nvPr>
            <p:ph type="sldNum" idx="4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579AA063-D88A-4C62-ACE8-04B2ECF3D6AC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9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E1555B1-AEF1-4F9D-80A9-B81C4B97856B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9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6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C3665E1-792B-4A3C-9C29-0C8D7AEC85B4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9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9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34FDBEE-003B-4972-ABB5-0FF49CAF08C1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0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2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602BEE3-FB03-4BF2-BC8B-ED4DDF94505C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5D3732FE-B975-46DD-BB49-B4B8B8F478D7}" type="slidenum">
              <a:t>&lt;#&gt;</a:t>
            </a:fld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Noto Sans CJK JP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7247E52F-012F-4276-B976-95C23A265E6D}" type="slidenum">
              <a:t>&lt;#&gt;</a:t>
            </a:fld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hape 0"/>
          <p:cNvSpPr/>
          <p:nvPr/>
        </p:nvSpPr>
        <p:spPr>
          <a:xfrm>
            <a:off x="0" y="0"/>
            <a:ext cx="12191400" cy="127800"/>
          </a:xfrm>
          <a:prstGeom prst="rect">
            <a:avLst/>
          </a:prstGeom>
          <a:solidFill>
            <a:srgbClr val="3c566b"/>
          </a:solidFill>
          <a:ln w="12600">
            <a:solidFill>
              <a:srgbClr val="3c56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" name="Text 1"/>
          <p:cNvSpPr/>
          <p:nvPr/>
        </p:nvSpPr>
        <p:spPr>
          <a:xfrm>
            <a:off x="502920" y="6473880"/>
            <a:ext cx="402300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6b7785"/>
                </a:solidFill>
                <a:effectLst/>
                <a:uFillTx/>
                <a:latin typeface="Noto Sans CJK JP"/>
                <a:ea typeface="Noto Sans CJK JP"/>
              </a:rPr>
              <a:t>Antibody Developability / Transformer study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Text 2"/>
          <p:cNvSpPr/>
          <p:nvPr/>
        </p:nvSpPr>
        <p:spPr>
          <a:xfrm>
            <a:off x="10561320" y="6473880"/>
            <a:ext cx="105120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850" strike="noStrike" u="none">
                <a:solidFill>
                  <a:srgbClr val="6b7785"/>
                </a:solidFill>
                <a:effectLst/>
                <a:uFillTx/>
                <a:latin typeface="Noto Sans CJK JP"/>
                <a:ea typeface="Noto Sans CJK JP"/>
              </a:rPr>
              <a:t>内部検討用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1"/>
          <p:cNvSpPr>
            <a:spLocks noGrp="1"/>
          </p:cNvSpPr>
          <p:nvPr>
            <p:ph type="sldNum" idx="1"/>
          </p:nvPr>
        </p:nvSpPr>
        <p:spPr>
          <a:xfrm>
            <a:off x="11640240" y="645552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850" strike="noStrike" u="none">
                <a:solidFill>
                  <a:srgbClr val="6b7785"/>
                </a:solidFill>
                <a:effectLst/>
                <a:uFillTx/>
                <a:latin typeface="Noto Sans CJK JP"/>
                <a:ea typeface="Noto Sans CJK JP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1AA04E13-2E81-41ED-9605-8D90918258B0}" type="slidenum">
              <a:rPr b="0" lang="en-US" sz="850" strike="noStrike" u="none">
                <a:solidFill>
                  <a:srgbClr val="6b7785"/>
                </a:solidFill>
                <a:effectLst/>
                <a:uFillTx/>
                <a:latin typeface="Noto Sans CJK JP"/>
                <a:ea typeface="Noto Sans CJK JP"/>
              </a:rPr>
              <a:t>&lt;number&gt;</a:t>
            </a:fld>
            <a:endParaRPr b="0" lang="en-US" sz="8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Noto Sans CJK JP"/>
              </a:rPr>
              <a:t>Click to edit the title text format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Noto Sans CJK JP"/>
            </a:endParaRPr>
          </a:p>
        </p:txBody>
      </p:sp>
      <p:sp>
        <p:nvSpPr>
          <p:cNvPr id="5" name="PlaceHolder 3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Noto Sans CJK JP"/>
              </a:rPr>
              <a:t>Click to edit the outline text format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Noto Sans CJK JP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Noto Sans CJK JP"/>
              </a:rPr>
              <a:t>Second Outline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Noto Sans CJK JP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Noto Sans CJK JP"/>
              </a:rPr>
              <a:t>Third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Noto Sans CJK JP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Noto Sans CJK JP"/>
              </a:rPr>
              <a:t>Fourth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Noto Sans CJK JP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Noto Sans CJK JP"/>
              </a:rPr>
              <a:t>Fifth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Noto Sans CJK JP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Noto Sans CJK JP"/>
              </a:rPr>
              <a:t>Sixth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Noto Sans CJK JP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Noto Sans CJK JP"/>
              </a:rPr>
              <a:t>Seventh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Noto Sans CJK JP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2"/>
    <p:sldLayoutId id="2147483651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0"/>
          <p:cNvSpPr/>
          <p:nvPr/>
        </p:nvSpPr>
        <p:spPr>
          <a:xfrm>
            <a:off x="530280" y="347400"/>
            <a:ext cx="1110960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2400" strike="noStrike" u="none">
                <a:solidFill>
                  <a:srgbClr val="243746"/>
                </a:solidFill>
                <a:effectLst/>
                <a:uFillTx/>
                <a:latin typeface="Noto Sans CJK JP"/>
                <a:ea typeface="Noto Sans CJK JP"/>
              </a:rPr>
              <a:t>抗体配列の</a:t>
            </a:r>
            <a:r>
              <a:rPr b="1" lang="en-US" sz="2400" strike="noStrike" u="none">
                <a:solidFill>
                  <a:srgbClr val="243746"/>
                </a:solidFill>
                <a:effectLst/>
                <a:uFillTx/>
                <a:latin typeface="Noto Sans CJK JP"/>
                <a:ea typeface="Noto Sans CJK JP"/>
              </a:rPr>
              <a:t>Developability</a:t>
            </a:r>
            <a:r>
              <a:rPr b="1" lang="zh-CN" sz="2400" strike="noStrike" u="none">
                <a:solidFill>
                  <a:srgbClr val="243746"/>
                </a:solidFill>
                <a:effectLst/>
                <a:uFillTx/>
                <a:latin typeface="Noto Sans CJK JP"/>
                <a:ea typeface="Noto Sans CJK JP"/>
              </a:rPr>
              <a:t>予測への</a:t>
            </a:r>
            <a:r>
              <a:rPr b="1" lang="en-US" sz="2400" strike="noStrike" u="none">
                <a:solidFill>
                  <a:srgbClr val="243746"/>
                </a:solidFill>
                <a:effectLst/>
                <a:uFillTx/>
                <a:latin typeface="Noto Sans CJK JP"/>
                <a:ea typeface="Noto Sans CJK JP"/>
              </a:rPr>
              <a:t>Transformer</a:t>
            </a:r>
            <a:r>
              <a:rPr b="1" lang="zh-CN" sz="2400" strike="noStrike" u="none">
                <a:solidFill>
                  <a:srgbClr val="243746"/>
                </a:solidFill>
                <a:effectLst/>
                <a:uFillTx/>
                <a:latin typeface="Noto Sans CJK JP"/>
                <a:ea typeface="Noto Sans CJK JP"/>
              </a:rPr>
              <a:t>の応用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1"/>
          <p:cNvSpPr/>
          <p:nvPr/>
        </p:nvSpPr>
        <p:spPr>
          <a:xfrm>
            <a:off x="548640" y="831960"/>
            <a:ext cx="11018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5e6b75"/>
                </a:solidFill>
                <a:effectLst/>
                <a:uFillTx/>
                <a:latin typeface="Noto Sans CJK JP"/>
                <a:ea typeface="Noto Sans CJK JP"/>
              </a:rPr>
              <a:t>PLM</a:t>
            </a:r>
            <a:r>
              <a:rPr b="0" lang="zh-CN" sz="1050" strike="noStrike" u="none">
                <a:solidFill>
                  <a:srgbClr val="5e6b75"/>
                </a:solidFill>
                <a:effectLst/>
                <a:uFillTx/>
                <a:latin typeface="Noto Sans CJK JP"/>
                <a:ea typeface="Noto Sans CJK JP"/>
              </a:rPr>
              <a:t>を「主役」ではなく交換可能な残基表現とみなし、抗体固有の</a:t>
            </a:r>
            <a:r>
              <a:rPr b="0" lang="en-US" sz="1050" strike="noStrike" u="none">
                <a:solidFill>
                  <a:srgbClr val="5e6b75"/>
                </a:solidFill>
                <a:effectLst/>
                <a:uFillTx/>
                <a:latin typeface="Noto Sans CJK JP"/>
                <a:ea typeface="Noto Sans CJK JP"/>
              </a:rPr>
              <a:t>H/L</a:t>
            </a:r>
            <a:r>
              <a:rPr b="0" lang="zh-CN" sz="1050" strike="noStrike" u="none">
                <a:solidFill>
                  <a:srgbClr val="5e6b75"/>
                </a:solidFill>
                <a:effectLst/>
                <a:uFillTx/>
                <a:latin typeface="Noto Sans CJK JP"/>
                <a:ea typeface="Noto Sans CJK JP"/>
              </a:rPr>
              <a:t>構造を</a:t>
            </a:r>
            <a:r>
              <a:rPr b="0" lang="en-US" sz="1050" strike="noStrike" u="none">
                <a:solidFill>
                  <a:srgbClr val="5e6b75"/>
                </a:solidFill>
                <a:effectLst/>
                <a:uFillTx/>
                <a:latin typeface="Noto Sans CJK JP"/>
                <a:ea typeface="Noto Sans CJK JP"/>
              </a:rPr>
              <a:t>Transformer</a:t>
            </a:r>
            <a:r>
              <a:rPr b="0" lang="zh-CN" sz="1050" strike="noStrike" u="none">
                <a:solidFill>
                  <a:srgbClr val="5e6b75"/>
                </a:solidFill>
                <a:effectLst/>
                <a:uFillTx/>
                <a:latin typeface="Noto Sans CJK JP"/>
                <a:ea typeface="Noto Sans CJK JP"/>
              </a:rPr>
              <a:t>側で扱う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Shape 2"/>
          <p:cNvSpPr/>
          <p:nvPr/>
        </p:nvSpPr>
        <p:spPr>
          <a:xfrm>
            <a:off x="658440" y="1280160"/>
            <a:ext cx="1325520" cy="310680"/>
          </a:xfrm>
          <a:prstGeom prst="roundRect">
            <a:avLst>
              <a:gd name="adj" fmla="val 23529"/>
            </a:avLst>
          </a:prstGeom>
          <a:solidFill>
            <a:srgbClr val="3c566b"/>
          </a:solidFill>
          <a:ln w="12600">
            <a:solidFill>
              <a:srgbClr val="3c56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3"/>
          <p:cNvSpPr/>
          <p:nvPr/>
        </p:nvSpPr>
        <p:spPr>
          <a:xfrm>
            <a:off x="685800" y="1321200"/>
            <a:ext cx="1270800" cy="20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930" strike="noStrike" u="none">
                <a:solidFill>
                  <a:srgbClr val="ffffff"/>
                </a:solidFill>
                <a:effectLst/>
                <a:uFillTx/>
                <a:latin typeface="Noto Sans CJK JP"/>
                <a:ea typeface="Noto Sans CJK JP"/>
              </a:rPr>
              <a:t>残基 </a:t>
            </a:r>
            <a:r>
              <a:rPr b="1" lang="en-US" sz="930" strike="noStrike" u="none">
                <a:solidFill>
                  <a:srgbClr val="ffffff"/>
                </a:solidFill>
                <a:effectLst/>
                <a:uFillTx/>
                <a:latin typeface="Noto Sans CJK JP"/>
                <a:ea typeface="Noto Sans CJK JP"/>
              </a:rPr>
              <a:t>content</a:t>
            </a:r>
            <a:endParaRPr b="0" lang="en-US" sz="9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Shape 4"/>
          <p:cNvSpPr/>
          <p:nvPr/>
        </p:nvSpPr>
        <p:spPr>
          <a:xfrm>
            <a:off x="594360" y="1764720"/>
            <a:ext cx="1508400" cy="776880"/>
          </a:xfrm>
          <a:prstGeom prst="roundRect">
            <a:avLst>
              <a:gd name="adj" fmla="val 9412"/>
            </a:avLst>
          </a:prstGeom>
          <a:solidFill>
            <a:srgbClr val="eaf0f4"/>
          </a:solidFill>
          <a:ln w="12600">
            <a:solidFill>
              <a:srgbClr val="c5d2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Text 5"/>
          <p:cNvSpPr/>
          <p:nvPr/>
        </p:nvSpPr>
        <p:spPr>
          <a:xfrm>
            <a:off x="667440" y="1819800"/>
            <a:ext cx="1362240" cy="66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1f2933"/>
                </a:solidFill>
                <a:effectLst/>
                <a:uFillTx/>
                <a:latin typeface="Noto Sans CJK JP"/>
                <a:ea typeface="Noto Sans CJK JP"/>
              </a:rPr>
              <a:t>Scratch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1f2933"/>
                </a:solidFill>
                <a:effectLst/>
                <a:uFillTx/>
                <a:latin typeface="Noto Sans CJK JP"/>
                <a:ea typeface="Noto Sans CJK JP"/>
              </a:rPr>
              <a:t>AA embedding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Shape 6"/>
          <p:cNvSpPr/>
          <p:nvPr/>
        </p:nvSpPr>
        <p:spPr>
          <a:xfrm>
            <a:off x="2331720" y="1764720"/>
            <a:ext cx="1737000" cy="776880"/>
          </a:xfrm>
          <a:prstGeom prst="roundRect">
            <a:avLst>
              <a:gd name="adj" fmla="val 9412"/>
            </a:avLst>
          </a:prstGeom>
          <a:solidFill>
            <a:srgbClr val="eaf2ee"/>
          </a:solidFill>
          <a:ln w="12600">
            <a:solidFill>
              <a:srgbClr val="c9d9d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7"/>
          <p:cNvSpPr/>
          <p:nvPr/>
        </p:nvSpPr>
        <p:spPr>
          <a:xfrm>
            <a:off x="2404800" y="1819800"/>
            <a:ext cx="1590840" cy="66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1f2933"/>
                </a:solidFill>
                <a:effectLst/>
                <a:uFillTx/>
                <a:latin typeface="Noto Sans CJK JP"/>
                <a:ea typeface="Noto Sans CJK JP"/>
              </a:rPr>
              <a:t>PLM residue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1f2933"/>
                </a:solidFill>
                <a:effectLst/>
                <a:uFillTx/>
                <a:latin typeface="Noto Sans CJK JP"/>
                <a:ea typeface="Noto Sans CJK JP"/>
              </a:rPr>
              <a:t>AbLang2 / ESM-2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Shape 8"/>
          <p:cNvSpPr/>
          <p:nvPr/>
        </p:nvSpPr>
        <p:spPr>
          <a:xfrm>
            <a:off x="1353240" y="2550960"/>
            <a:ext cx="585000" cy="466560"/>
          </a:xfrm>
          <a:prstGeom prst="line">
            <a:avLst/>
          </a:prstGeom>
          <a:ln w="23040">
            <a:solidFill>
              <a:srgbClr val="3c566b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Shape 9"/>
          <p:cNvSpPr/>
          <p:nvPr/>
        </p:nvSpPr>
        <p:spPr>
          <a:xfrm flipH="1">
            <a:off x="2633400" y="2550960"/>
            <a:ext cx="567000" cy="466560"/>
          </a:xfrm>
          <a:prstGeom prst="line">
            <a:avLst/>
          </a:prstGeom>
          <a:ln w="23040">
            <a:solidFill>
              <a:srgbClr val="3c566b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Shape 10"/>
          <p:cNvSpPr/>
          <p:nvPr/>
        </p:nvSpPr>
        <p:spPr>
          <a:xfrm>
            <a:off x="1554480" y="2953440"/>
            <a:ext cx="1645560" cy="52992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600">
            <a:solidFill>
              <a:srgbClr val="d8de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11"/>
          <p:cNvSpPr/>
          <p:nvPr/>
        </p:nvSpPr>
        <p:spPr>
          <a:xfrm>
            <a:off x="1627560" y="3008520"/>
            <a:ext cx="149940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200" strike="noStrike" u="none">
                <a:solidFill>
                  <a:srgbClr val="1f2933"/>
                </a:solidFill>
                <a:effectLst/>
                <a:uFillTx/>
                <a:latin typeface="Noto Sans CJK JP"/>
                <a:ea typeface="Noto Sans CJK JP"/>
              </a:rPr>
              <a:t>共通 </a:t>
            </a:r>
            <a:r>
              <a:rPr b="1" lang="en-US" sz="1200" strike="noStrike" u="none">
                <a:solidFill>
                  <a:srgbClr val="1f2933"/>
                </a:solidFill>
                <a:effectLst/>
                <a:uFillTx/>
                <a:latin typeface="Noto Sans CJK JP"/>
                <a:ea typeface="Noto Sans CJK JP"/>
              </a:rPr>
              <a:t>d_model </a:t>
            </a:r>
            <a:r>
              <a:rPr b="1" lang="zh-CN" sz="1200" strike="noStrike" u="none">
                <a:solidFill>
                  <a:srgbClr val="1f2933"/>
                </a:solidFill>
                <a:effectLst/>
                <a:uFillTx/>
                <a:latin typeface="Noto Sans CJK JP"/>
                <a:ea typeface="Noto Sans CJK JP"/>
              </a:rPr>
              <a:t>へ投影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Shape 12"/>
          <p:cNvSpPr/>
          <p:nvPr/>
        </p:nvSpPr>
        <p:spPr>
          <a:xfrm>
            <a:off x="4434840" y="1280160"/>
            <a:ext cx="1828440" cy="310680"/>
          </a:xfrm>
          <a:prstGeom prst="roundRect">
            <a:avLst>
              <a:gd name="adj" fmla="val 23529"/>
            </a:avLst>
          </a:prstGeom>
          <a:solidFill>
            <a:srgbClr val="4f7f78"/>
          </a:solidFill>
          <a:ln w="12600">
            <a:solidFill>
              <a:srgbClr val="4f7f7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" name="Text 13"/>
          <p:cNvSpPr/>
          <p:nvPr/>
        </p:nvSpPr>
        <p:spPr>
          <a:xfrm>
            <a:off x="4462200" y="1321200"/>
            <a:ext cx="1773720" cy="20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930" strike="noStrike" u="none">
                <a:solidFill>
                  <a:srgbClr val="ffffff"/>
                </a:solidFill>
                <a:effectLst/>
                <a:uFillTx/>
                <a:latin typeface="Noto Sans CJK JP"/>
                <a:ea typeface="Noto Sans CJK JP"/>
              </a:rPr>
              <a:t>抗体固有 </a:t>
            </a:r>
            <a:r>
              <a:rPr b="1" lang="en-US" sz="930" strike="noStrike" u="none">
                <a:solidFill>
                  <a:srgbClr val="ffffff"/>
                </a:solidFill>
                <a:effectLst/>
                <a:uFillTx/>
                <a:latin typeface="Noto Sans CJK JP"/>
                <a:ea typeface="Noto Sans CJK JP"/>
              </a:rPr>
              <a:t>annotation</a:t>
            </a:r>
            <a:endParaRPr b="0" lang="en-US" sz="9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Shape 14"/>
          <p:cNvSpPr/>
          <p:nvPr/>
        </p:nvSpPr>
        <p:spPr>
          <a:xfrm>
            <a:off x="4389120" y="1764720"/>
            <a:ext cx="1965600" cy="1718640"/>
          </a:xfrm>
          <a:prstGeom prst="roundRect">
            <a:avLst>
              <a:gd name="adj" fmla="val 4255"/>
            </a:avLst>
          </a:prstGeom>
          <a:solidFill>
            <a:srgbClr val="edf5f2"/>
          </a:solidFill>
          <a:ln w="12600">
            <a:solidFill>
              <a:srgbClr val="cbddd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15"/>
          <p:cNvSpPr/>
          <p:nvPr/>
        </p:nvSpPr>
        <p:spPr>
          <a:xfrm>
            <a:off x="4462200" y="1819800"/>
            <a:ext cx="1819440" cy="160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1f2933"/>
                </a:solidFill>
                <a:effectLst/>
                <a:uFillTx/>
                <a:latin typeface="Noto Sans CJK JP"/>
                <a:ea typeface="Noto Sans CJK JP"/>
              </a:rPr>
              <a:t>sequence position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1f2933"/>
                </a:solidFill>
                <a:effectLst/>
                <a:uFillTx/>
                <a:latin typeface="Noto Sans CJK JP"/>
                <a:ea typeface="Noto Sans CJK JP"/>
              </a:rPr>
              <a:t>H / L chain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1f2933"/>
                </a:solidFill>
                <a:effectLst/>
                <a:uFillTx/>
                <a:latin typeface="Noto Sans CJK JP"/>
                <a:ea typeface="Noto Sans CJK JP"/>
              </a:rPr>
              <a:t>IMGT position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1f2933"/>
                </a:solidFill>
                <a:effectLst/>
                <a:uFillTx/>
                <a:latin typeface="Noto Sans CJK JP"/>
                <a:ea typeface="Noto Sans CJK JP"/>
              </a:rPr>
              <a:t>CDR / FR region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Shape 16"/>
          <p:cNvSpPr/>
          <p:nvPr/>
        </p:nvSpPr>
        <p:spPr>
          <a:xfrm>
            <a:off x="3200400" y="3218400"/>
            <a:ext cx="859320" cy="360"/>
          </a:xfrm>
          <a:prstGeom prst="line">
            <a:avLst/>
          </a:prstGeom>
          <a:ln w="26640">
            <a:solidFill>
              <a:srgbClr val="5b7e95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Shape 17"/>
          <p:cNvSpPr/>
          <p:nvPr/>
        </p:nvSpPr>
        <p:spPr>
          <a:xfrm>
            <a:off x="6355080" y="2651760"/>
            <a:ext cx="548640" cy="360"/>
          </a:xfrm>
          <a:prstGeom prst="line">
            <a:avLst/>
          </a:prstGeom>
          <a:ln w="26640">
            <a:solidFill>
              <a:srgbClr val="4f7f78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Shape 18"/>
          <p:cNvSpPr/>
          <p:nvPr/>
        </p:nvSpPr>
        <p:spPr>
          <a:xfrm>
            <a:off x="6876360" y="1417320"/>
            <a:ext cx="2742840" cy="23313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600">
            <a:solidFill>
              <a:srgbClr val="aab9c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Text 19"/>
          <p:cNvSpPr/>
          <p:nvPr/>
        </p:nvSpPr>
        <p:spPr>
          <a:xfrm>
            <a:off x="7113960" y="1627560"/>
            <a:ext cx="22856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trike="noStrike" u="none">
                <a:solidFill>
                  <a:srgbClr val="243746"/>
                </a:solidFill>
                <a:effectLst/>
                <a:uFillTx/>
                <a:latin typeface="Noto Sans CJK JP"/>
                <a:ea typeface="Noto Sans CJK JP"/>
              </a:rPr>
              <a:t>Antibody-aware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trike="noStrike" u="none">
                <a:solidFill>
                  <a:srgbClr val="243746"/>
                </a:solidFill>
                <a:effectLst/>
                <a:uFillTx/>
                <a:latin typeface="Noto Sans CJK JP"/>
                <a:ea typeface="Noto Sans CJK JP"/>
              </a:rPr>
              <a:t>Transformer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20"/>
          <p:cNvSpPr/>
          <p:nvPr/>
        </p:nvSpPr>
        <p:spPr>
          <a:xfrm>
            <a:off x="7242120" y="2331720"/>
            <a:ext cx="2029680" cy="102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1f2933"/>
                </a:solidFill>
                <a:effectLst/>
                <a:uFillTx/>
                <a:latin typeface="Noto Sans CJK JP"/>
                <a:ea typeface="Noto Sans CJK JP"/>
              </a:rPr>
              <a:t>• H/L communication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1f2933"/>
                </a:solidFill>
                <a:effectLst/>
                <a:uFillTx/>
                <a:latin typeface="Noto Sans CJK JP"/>
                <a:ea typeface="Noto Sans CJK JP"/>
              </a:rPr>
              <a:t>• REG token aggregation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1f2933"/>
                </a:solidFill>
                <a:effectLst/>
                <a:uFillTx/>
                <a:latin typeface="Noto Sans CJK JP"/>
                <a:ea typeface="Noto Sans CJK JP"/>
              </a:rPr>
              <a:t>• chain-specific mask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1f2933"/>
                </a:solidFill>
                <a:effectLst/>
                <a:uFillTx/>
                <a:latin typeface="Noto Sans CJK JP"/>
                <a:ea typeface="Noto Sans CJK JP"/>
              </a:rPr>
              <a:t>• cross-attention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Shape 21"/>
          <p:cNvSpPr/>
          <p:nvPr/>
        </p:nvSpPr>
        <p:spPr>
          <a:xfrm>
            <a:off x="9646920" y="2578320"/>
            <a:ext cx="548640" cy="360"/>
          </a:xfrm>
          <a:prstGeom prst="line">
            <a:avLst/>
          </a:prstGeom>
          <a:ln w="26640">
            <a:solidFill>
              <a:srgbClr val="5b7e95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Shape 22"/>
          <p:cNvSpPr/>
          <p:nvPr/>
        </p:nvSpPr>
        <p:spPr>
          <a:xfrm>
            <a:off x="10186560" y="2103120"/>
            <a:ext cx="1325520" cy="895680"/>
          </a:xfrm>
          <a:prstGeom prst="roundRect">
            <a:avLst>
              <a:gd name="adj" fmla="val 8163"/>
            </a:avLst>
          </a:prstGeom>
          <a:solidFill>
            <a:srgbClr val="eef3f7"/>
          </a:solidFill>
          <a:ln w="12600">
            <a:solidFill>
              <a:srgbClr val="bfcb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23"/>
          <p:cNvSpPr/>
          <p:nvPr/>
        </p:nvSpPr>
        <p:spPr>
          <a:xfrm>
            <a:off x="10259640" y="2157840"/>
            <a:ext cx="1179360" cy="78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150" strike="noStrike" u="none">
                <a:solidFill>
                  <a:srgbClr val="1f2933"/>
                </a:solidFill>
                <a:effectLst/>
                <a:uFillTx/>
                <a:latin typeface="Noto Sans CJK JP"/>
                <a:ea typeface="Noto Sans CJK JP"/>
              </a:rPr>
              <a:t>抗体レベル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trike="noStrike" u="none">
                <a:solidFill>
                  <a:srgbClr val="1f2933"/>
                </a:solidFill>
                <a:effectLst/>
                <a:uFillTx/>
                <a:latin typeface="Noto Sans CJK JP"/>
                <a:ea typeface="Noto Sans CJK JP"/>
              </a:rPr>
              <a:t>representation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Shape 24"/>
          <p:cNvSpPr/>
          <p:nvPr/>
        </p:nvSpPr>
        <p:spPr>
          <a:xfrm>
            <a:off x="7406640" y="4160520"/>
            <a:ext cx="1663920" cy="639720"/>
          </a:xfrm>
          <a:prstGeom prst="roundRect">
            <a:avLst>
              <a:gd name="adj" fmla="val 11429"/>
            </a:avLst>
          </a:prstGeom>
          <a:solidFill>
            <a:srgbClr val="f5f0e8"/>
          </a:solidFill>
          <a:ln w="12600">
            <a:solidFill>
              <a:srgbClr val="d6c6a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25"/>
          <p:cNvSpPr/>
          <p:nvPr/>
        </p:nvSpPr>
        <p:spPr>
          <a:xfrm>
            <a:off x="7479720" y="4215240"/>
            <a:ext cx="151740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200" strike="noStrike" u="none">
                <a:solidFill>
                  <a:srgbClr val="715c3a"/>
                </a:solidFill>
                <a:effectLst/>
                <a:uFillTx/>
                <a:latin typeface="Noto Sans CJK JP"/>
                <a:ea typeface="Noto Sans CJK JP"/>
              </a:rPr>
              <a:t>構造・物性情報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715c3a"/>
                </a:solidFill>
                <a:effectLst/>
                <a:uFillTx/>
                <a:latin typeface="Noto Sans CJK JP"/>
                <a:ea typeface="Noto Sans CJK JP"/>
              </a:rPr>
              <a:t>SURFACE </a:t>
            </a:r>
            <a:r>
              <a:rPr b="1" lang="zh-CN" sz="1200" strike="noStrike" u="none">
                <a:solidFill>
                  <a:srgbClr val="715c3a"/>
                </a:solidFill>
                <a:effectLst/>
                <a:uFillTx/>
                <a:latin typeface="Noto Sans CJK JP"/>
                <a:ea typeface="Noto Sans CJK JP"/>
              </a:rPr>
              <a:t>など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Shape 26"/>
          <p:cNvSpPr/>
          <p:nvPr/>
        </p:nvSpPr>
        <p:spPr>
          <a:xfrm flipV="1">
            <a:off x="9098280" y="3017520"/>
            <a:ext cx="1106280" cy="1463040"/>
          </a:xfrm>
          <a:prstGeom prst="line">
            <a:avLst/>
          </a:prstGeom>
          <a:ln w="21600">
            <a:solidFill>
              <a:srgbClr val="a27b4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27"/>
          <p:cNvSpPr/>
          <p:nvPr/>
        </p:nvSpPr>
        <p:spPr>
          <a:xfrm>
            <a:off x="7315200" y="4864680"/>
            <a:ext cx="24685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5e6b75"/>
                </a:solidFill>
                <a:effectLst/>
                <a:uFillTx/>
                <a:latin typeface="Noto Sans CJK JP"/>
                <a:ea typeface="Noto Sans CJK JP"/>
              </a:rPr>
              <a:t>late fusion / </a:t>
            </a:r>
            <a:r>
              <a:rPr b="0" lang="zh-CN" sz="950" strike="noStrike" u="none">
                <a:solidFill>
                  <a:srgbClr val="5e6b75"/>
                </a:solidFill>
                <a:effectLst/>
                <a:uFillTx/>
                <a:latin typeface="Noto Sans CJK JP"/>
                <a:ea typeface="Noto Sans CJK JP"/>
              </a:rPr>
              <a:t>将来は</a:t>
            </a:r>
            <a:r>
              <a:rPr b="0" lang="en-US" sz="950" strike="noStrike" u="none">
                <a:solidFill>
                  <a:srgbClr val="5e6b75"/>
                </a:solidFill>
                <a:effectLst/>
                <a:uFillTx/>
                <a:latin typeface="Noto Sans CJK JP"/>
                <a:ea typeface="Noto Sans CJK JP"/>
              </a:rPr>
              <a:t>token</a:t>
            </a:r>
            <a:r>
              <a:rPr b="0" lang="zh-CN" sz="950" strike="noStrike" u="none">
                <a:solidFill>
                  <a:srgbClr val="5e6b75"/>
                </a:solidFill>
                <a:effectLst/>
                <a:uFillTx/>
                <a:latin typeface="Noto Sans CJK JP"/>
                <a:ea typeface="Noto Sans CJK JP"/>
              </a:rPr>
              <a:t>・</a:t>
            </a:r>
            <a:r>
              <a:rPr b="0" lang="en-US" sz="950" strike="noStrike" u="none">
                <a:solidFill>
                  <a:srgbClr val="5e6b75"/>
                </a:solidFill>
                <a:effectLst/>
                <a:uFillTx/>
                <a:latin typeface="Noto Sans CJK JP"/>
                <a:ea typeface="Noto Sans CJK JP"/>
              </a:rPr>
              <a:t>edge</a:t>
            </a:r>
            <a:r>
              <a:rPr b="0" lang="zh-CN" sz="950" strike="noStrike" u="none">
                <a:solidFill>
                  <a:srgbClr val="5e6b75"/>
                </a:solidFill>
                <a:effectLst/>
                <a:uFillTx/>
                <a:latin typeface="Noto Sans CJK JP"/>
                <a:ea typeface="Noto Sans CJK JP"/>
              </a:rPr>
              <a:t>へ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Shape 28"/>
          <p:cNvSpPr/>
          <p:nvPr/>
        </p:nvSpPr>
        <p:spPr>
          <a:xfrm>
            <a:off x="658440" y="5139000"/>
            <a:ext cx="10835280" cy="840960"/>
          </a:xfrm>
          <a:prstGeom prst="roundRect">
            <a:avLst>
              <a:gd name="adj" fmla="val 8696"/>
            </a:avLst>
          </a:prstGeom>
          <a:solidFill>
            <a:srgbClr val="eff3f6"/>
          </a:solidFill>
          <a:ln w="12600">
            <a:solidFill>
              <a:srgbClr val="d1da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29"/>
          <p:cNvSpPr/>
          <p:nvPr/>
        </p:nvSpPr>
        <p:spPr>
          <a:xfrm>
            <a:off x="868680" y="5367600"/>
            <a:ext cx="6397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100" strike="noStrike" u="none">
                <a:solidFill>
                  <a:srgbClr val="3c566b"/>
                </a:solidFill>
                <a:effectLst/>
                <a:uFillTx/>
                <a:latin typeface="Noto Sans CJK JP"/>
                <a:ea typeface="Noto Sans CJK JP"/>
              </a:rPr>
              <a:t>要点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30"/>
          <p:cNvSpPr/>
          <p:nvPr/>
        </p:nvSpPr>
        <p:spPr>
          <a:xfrm>
            <a:off x="1508760" y="5276160"/>
            <a:ext cx="958248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20" strike="noStrike" u="none">
                <a:solidFill>
                  <a:srgbClr val="1f2933"/>
                </a:solidFill>
                <a:effectLst/>
                <a:uFillTx/>
                <a:latin typeface="Noto Sans CJK JP"/>
                <a:ea typeface="Noto Sans CJK JP"/>
              </a:rPr>
              <a:t>PLM</a:t>
            </a:r>
            <a:r>
              <a:rPr b="0" lang="zh-CN" sz="1220" strike="noStrike" u="none">
                <a:solidFill>
                  <a:srgbClr val="1f2933"/>
                </a:solidFill>
                <a:effectLst/>
                <a:uFillTx/>
                <a:latin typeface="Noto Sans CJK JP"/>
                <a:ea typeface="Noto Sans CJK JP"/>
              </a:rPr>
              <a:t>は「残基</a:t>
            </a:r>
            <a:r>
              <a:rPr b="0" lang="en-US" sz="1220" strike="noStrike" u="none">
                <a:solidFill>
                  <a:srgbClr val="1f2933"/>
                </a:solidFill>
                <a:effectLst/>
                <a:uFillTx/>
                <a:latin typeface="Noto Sans CJK JP"/>
                <a:ea typeface="Noto Sans CJK JP"/>
              </a:rPr>
              <a:t>content</a:t>
            </a:r>
            <a:r>
              <a:rPr b="0" lang="zh-CN" sz="1220" strike="noStrike" u="none">
                <a:solidFill>
                  <a:srgbClr val="1f2933"/>
                </a:solidFill>
                <a:effectLst/>
                <a:uFillTx/>
                <a:latin typeface="Noto Sans CJK JP"/>
                <a:ea typeface="Noto Sans CJK JP"/>
              </a:rPr>
              <a:t>を供給する部品」。</a:t>
            </a:r>
            <a:r>
              <a:rPr b="0" lang="en-US" sz="1220" strike="noStrike" u="none">
                <a:solidFill>
                  <a:srgbClr val="1f2933"/>
                </a:solidFill>
                <a:effectLst/>
                <a:uFillTx/>
                <a:latin typeface="Noto Sans CJK JP"/>
                <a:ea typeface="Noto Sans CJK JP"/>
              </a:rPr>
              <a:t>Transformer</a:t>
            </a:r>
            <a:r>
              <a:rPr b="0" lang="zh-CN" sz="1220" strike="noStrike" u="none">
                <a:solidFill>
                  <a:srgbClr val="1f2933"/>
                </a:solidFill>
                <a:effectLst/>
                <a:uFillTx/>
                <a:latin typeface="Noto Sans CJK JP"/>
                <a:ea typeface="Noto Sans CJK JP"/>
              </a:rPr>
              <a:t>側で </a:t>
            </a:r>
            <a:r>
              <a:rPr b="0" lang="en-US" sz="1220" strike="noStrike" u="none">
                <a:solidFill>
                  <a:srgbClr val="1f2933"/>
                </a:solidFill>
                <a:effectLst/>
                <a:uFillTx/>
                <a:latin typeface="Noto Sans CJK JP"/>
                <a:ea typeface="Noto Sans CJK JP"/>
              </a:rPr>
              <a:t>H/L</a:t>
            </a:r>
            <a:r>
              <a:rPr b="0" lang="zh-CN" sz="1220" strike="noStrike" u="none">
                <a:solidFill>
                  <a:srgbClr val="1f2933"/>
                </a:solidFill>
                <a:effectLst/>
                <a:uFillTx/>
                <a:latin typeface="Noto Sans CJK JP"/>
                <a:ea typeface="Noto Sans CJK JP"/>
              </a:rPr>
              <a:t>・</a:t>
            </a:r>
            <a:r>
              <a:rPr b="0" lang="en-US" sz="1220" strike="noStrike" u="none">
                <a:solidFill>
                  <a:srgbClr val="1f2933"/>
                </a:solidFill>
                <a:effectLst/>
                <a:uFillTx/>
                <a:latin typeface="Noto Sans CJK JP"/>
                <a:ea typeface="Noto Sans CJK JP"/>
              </a:rPr>
              <a:t>IMGT</a:t>
            </a:r>
            <a:r>
              <a:rPr b="0" lang="zh-CN" sz="1220" strike="noStrike" u="none">
                <a:solidFill>
                  <a:srgbClr val="1f2933"/>
                </a:solidFill>
                <a:effectLst/>
                <a:uFillTx/>
                <a:latin typeface="Noto Sans CJK JP"/>
                <a:ea typeface="Noto Sans CJK JP"/>
              </a:rPr>
              <a:t>・</a:t>
            </a:r>
            <a:r>
              <a:rPr b="0" lang="en-US" sz="1220" strike="noStrike" u="none">
                <a:solidFill>
                  <a:srgbClr val="1f2933"/>
                </a:solidFill>
                <a:effectLst/>
                <a:uFillTx/>
                <a:latin typeface="Noto Sans CJK JP"/>
                <a:ea typeface="Noto Sans CJK JP"/>
              </a:rPr>
              <a:t>CDR/FR</a:t>
            </a:r>
            <a:r>
              <a:rPr b="0" lang="zh-CN" sz="1220" strike="noStrike" u="none">
                <a:solidFill>
                  <a:srgbClr val="1f2933"/>
                </a:solidFill>
                <a:effectLst/>
                <a:uFillTx/>
                <a:latin typeface="Noto Sans CJK JP"/>
                <a:ea typeface="Noto Sans CJK JP"/>
              </a:rPr>
              <a:t>・集約方法を設計できる。</a:t>
            </a:r>
            <a:endParaRPr b="0" lang="en-US" sz="12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1220" strike="noStrike" u="none">
                <a:solidFill>
                  <a:srgbClr val="1f2933"/>
                </a:solidFill>
                <a:effectLst/>
                <a:uFillTx/>
                <a:latin typeface="Noto Sans CJK JP"/>
                <a:ea typeface="Noto Sans CJK JP"/>
              </a:rPr>
              <a:t>少し製造業っぽく言えば、良い素材だけでなく「組み立て方」も効いていた。</a:t>
            </a:r>
            <a:endParaRPr b="0" lang="en-US" sz="12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PlaceHolder 1"/>
          <p:cNvSpPr>
            <a:spLocks noGrp="1"/>
          </p:cNvSpPr>
          <p:nvPr>
            <p:ph type="sldNum" idx="5"/>
          </p:nvPr>
        </p:nvSpPr>
        <p:spPr>
          <a:xfrm>
            <a:off x="11640240" y="645552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850" strike="noStrike" u="none">
                <a:solidFill>
                  <a:srgbClr val="6b7785"/>
                </a:solidFill>
                <a:effectLst/>
                <a:uFillTx/>
                <a:latin typeface="Noto Sans CJK JP"/>
                <a:ea typeface="Noto Sans CJK JP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570E5848-3E34-4A08-B01B-2C532D3CFE2C}" type="slidenum">
              <a:rPr b="0" lang="en-US" sz="850" strike="noStrike" u="none">
                <a:solidFill>
                  <a:srgbClr val="6b7785"/>
                </a:solidFill>
                <a:effectLst/>
                <a:uFillTx/>
                <a:latin typeface="Noto Sans CJK JP"/>
                <a:ea typeface="Noto Sans CJK JP"/>
              </a:rPr>
              <a:t>&lt;number&gt;</a:t>
            </a:fld>
            <a:endParaRPr b="0" lang="en-US" sz="8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ext 0"/>
          <p:cNvSpPr/>
          <p:nvPr/>
        </p:nvSpPr>
        <p:spPr>
          <a:xfrm>
            <a:off x="530280" y="347400"/>
            <a:ext cx="1110960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2400" strike="noStrike" u="none">
                <a:solidFill>
                  <a:srgbClr val="243746"/>
                </a:solidFill>
                <a:effectLst/>
                <a:uFillTx/>
                <a:latin typeface="Noto Sans CJK JP"/>
                <a:ea typeface="Noto Sans CJK JP"/>
              </a:rPr>
              <a:t>有望だった具体構成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1"/>
          <p:cNvSpPr/>
          <p:nvPr/>
        </p:nvSpPr>
        <p:spPr>
          <a:xfrm>
            <a:off x="548640" y="831960"/>
            <a:ext cx="11018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1050" strike="noStrike" u="none">
                <a:solidFill>
                  <a:srgbClr val="5e6b75"/>
                </a:solidFill>
                <a:effectLst/>
                <a:uFillTx/>
                <a:latin typeface="Noto Sans CJK JP"/>
                <a:ea typeface="Noto Sans CJK JP"/>
              </a:rPr>
              <a:t>すべてを混ぜる／最後だけ跨ぐ／</a:t>
            </a:r>
            <a:r>
              <a:rPr b="0" lang="en-US" sz="1050" strike="noStrike" u="none">
                <a:solidFill>
                  <a:srgbClr val="5e6b75"/>
                </a:solidFill>
                <a:effectLst/>
                <a:uFillTx/>
                <a:latin typeface="Noto Sans CJK JP"/>
                <a:ea typeface="Noto Sans CJK JP"/>
              </a:rPr>
              <a:t>summary</a:t>
            </a:r>
            <a:r>
              <a:rPr b="0" lang="zh-CN" sz="1050" strike="noStrike" u="none">
                <a:solidFill>
                  <a:srgbClr val="5e6b75"/>
                </a:solidFill>
                <a:effectLst/>
                <a:uFillTx/>
                <a:latin typeface="Noto Sans CJK JP"/>
                <a:ea typeface="Noto Sans CJK JP"/>
              </a:rPr>
              <a:t>の役割を分ける —— </a:t>
            </a:r>
            <a:r>
              <a:rPr b="0" lang="en-US" sz="1050" strike="noStrike" u="none">
                <a:solidFill>
                  <a:srgbClr val="5e6b75"/>
                </a:solidFill>
                <a:effectLst/>
                <a:uFillTx/>
                <a:latin typeface="Noto Sans CJK JP"/>
                <a:ea typeface="Noto Sans CJK JP"/>
              </a:rPr>
              <a:t>H/L interaction</a:t>
            </a:r>
            <a:r>
              <a:rPr b="0" lang="zh-CN" sz="1050" strike="noStrike" u="none">
                <a:solidFill>
                  <a:srgbClr val="5e6b75"/>
                </a:solidFill>
                <a:effectLst/>
                <a:uFillTx/>
                <a:latin typeface="Noto Sans CJK JP"/>
                <a:ea typeface="Noto Sans CJK JP"/>
              </a:rPr>
              <a:t>の設計が主な差分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Shape 2"/>
          <p:cNvSpPr/>
          <p:nvPr/>
        </p:nvSpPr>
        <p:spPr>
          <a:xfrm>
            <a:off x="612720" y="1234440"/>
            <a:ext cx="868320" cy="310680"/>
          </a:xfrm>
          <a:prstGeom prst="roundRect">
            <a:avLst>
              <a:gd name="adj" fmla="val 23529"/>
            </a:avLst>
          </a:prstGeom>
          <a:solidFill>
            <a:srgbClr val="3c566b"/>
          </a:solidFill>
          <a:ln w="12600">
            <a:solidFill>
              <a:srgbClr val="3c56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3"/>
          <p:cNvSpPr/>
          <p:nvPr/>
        </p:nvSpPr>
        <p:spPr>
          <a:xfrm>
            <a:off x="640080" y="1275480"/>
            <a:ext cx="813600" cy="20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30" strike="noStrike" u="none">
                <a:solidFill>
                  <a:srgbClr val="ffffff"/>
                </a:solidFill>
                <a:effectLst/>
                <a:uFillTx/>
                <a:latin typeface="Noto Sans CJK JP"/>
                <a:ea typeface="Noto Sans CJK JP"/>
              </a:rPr>
              <a:t>TmApp</a:t>
            </a:r>
            <a:endParaRPr b="0" lang="en-US" sz="9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Shape 4"/>
          <p:cNvSpPr/>
          <p:nvPr/>
        </p:nvSpPr>
        <p:spPr>
          <a:xfrm>
            <a:off x="621720" y="1673280"/>
            <a:ext cx="5230080" cy="187416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600">
            <a:solidFill>
              <a:srgbClr val="c9d2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5"/>
          <p:cNvSpPr/>
          <p:nvPr/>
        </p:nvSpPr>
        <p:spPr>
          <a:xfrm>
            <a:off x="868680" y="1847160"/>
            <a:ext cx="46173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243746"/>
                </a:solidFill>
                <a:effectLst/>
                <a:uFillTx/>
                <a:latin typeface="Noto Sans CJK JP"/>
                <a:ea typeface="Noto Sans CJK JP"/>
              </a:rPr>
              <a:t>ARCH-3  |  joint unrestricted dual REG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6"/>
          <p:cNvSpPr/>
          <p:nvPr/>
        </p:nvSpPr>
        <p:spPr>
          <a:xfrm>
            <a:off x="941760" y="2304360"/>
            <a:ext cx="440712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20" strike="noStrike" u="none">
                <a:solidFill>
                  <a:srgbClr val="1f2933"/>
                </a:solidFill>
                <a:effectLst/>
                <a:uFillTx/>
                <a:latin typeface="Noto Sans Mono CJK JP"/>
                <a:ea typeface="Noto Sans Mono CJK JP"/>
              </a:rPr>
              <a:t>[REG_H]  H1 H2 … Hn  [REG_L]  L1 L2 … Lm</a:t>
            </a:r>
            <a:endParaRPr b="0" lang="en-US" sz="12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Shape 7"/>
          <p:cNvSpPr/>
          <p:nvPr/>
        </p:nvSpPr>
        <p:spPr>
          <a:xfrm>
            <a:off x="1143000" y="2706480"/>
            <a:ext cx="3986640" cy="360"/>
          </a:xfrm>
          <a:prstGeom prst="line">
            <a:avLst/>
          </a:prstGeom>
          <a:ln w="21600">
            <a:solidFill>
              <a:srgbClr val="5b7e95"/>
            </a:solidFill>
            <a:round/>
            <a:headEnd len="med" type="triangle" w="med"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8"/>
          <p:cNvSpPr/>
          <p:nvPr/>
        </p:nvSpPr>
        <p:spPr>
          <a:xfrm>
            <a:off x="960120" y="2834640"/>
            <a:ext cx="4343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70" strike="noStrike" u="none">
                <a:solidFill>
                  <a:srgbClr val="5e6b75"/>
                </a:solidFill>
                <a:effectLst/>
                <a:uFillTx/>
                <a:latin typeface="Noto Sans CJK JP"/>
                <a:ea typeface="Noto Sans CJK JP"/>
              </a:rPr>
              <a:t>H/L</a:t>
            </a:r>
            <a:r>
              <a:rPr b="0" lang="zh-CN" sz="1070" strike="noStrike" u="none">
                <a:solidFill>
                  <a:srgbClr val="5e6b75"/>
                </a:solidFill>
                <a:effectLst/>
                <a:uFillTx/>
                <a:latin typeface="Noto Sans CJK JP"/>
                <a:ea typeface="Noto Sans CJK JP"/>
              </a:rPr>
              <a:t>残基・</a:t>
            </a:r>
            <a:r>
              <a:rPr b="0" lang="en-US" sz="1070" strike="noStrike" u="none">
                <a:solidFill>
                  <a:srgbClr val="5e6b75"/>
                </a:solidFill>
                <a:effectLst/>
                <a:uFillTx/>
                <a:latin typeface="Noto Sans CJK JP"/>
                <a:ea typeface="Noto Sans CJK JP"/>
              </a:rPr>
              <a:t>REG</a:t>
            </a:r>
            <a:r>
              <a:rPr b="0" lang="zh-CN" sz="1070" strike="noStrike" u="none">
                <a:solidFill>
                  <a:srgbClr val="5e6b75"/>
                </a:solidFill>
                <a:effectLst/>
                <a:uFillTx/>
                <a:latin typeface="Noto Sans CJK JP"/>
                <a:ea typeface="Noto Sans CJK JP"/>
              </a:rPr>
              <a:t>とも同じ</a:t>
            </a:r>
            <a:r>
              <a:rPr b="0" lang="en-US" sz="1070" strike="noStrike" u="none">
                <a:solidFill>
                  <a:srgbClr val="5e6b75"/>
                </a:solidFill>
                <a:effectLst/>
                <a:uFillTx/>
                <a:latin typeface="Noto Sans CJK JP"/>
                <a:ea typeface="Noto Sans CJK JP"/>
              </a:rPr>
              <a:t>self-attention</a:t>
            </a:r>
            <a:r>
              <a:rPr b="0" lang="zh-CN" sz="1070" strike="noStrike" u="none">
                <a:solidFill>
                  <a:srgbClr val="5e6b75"/>
                </a:solidFill>
                <a:effectLst/>
                <a:uFillTx/>
                <a:latin typeface="Noto Sans CJK JP"/>
                <a:ea typeface="Noto Sans CJK JP"/>
              </a:rPr>
              <a:t>空間で通信</a:t>
            </a:r>
            <a:endParaRPr b="0" lang="en-US" sz="10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Shape 9"/>
          <p:cNvSpPr/>
          <p:nvPr/>
        </p:nvSpPr>
        <p:spPr>
          <a:xfrm>
            <a:off x="4279320" y="3127320"/>
            <a:ext cx="1279800" cy="310680"/>
          </a:xfrm>
          <a:prstGeom prst="roundRect">
            <a:avLst>
              <a:gd name="adj" fmla="val 23529"/>
            </a:avLst>
          </a:prstGeom>
          <a:solidFill>
            <a:srgbClr val="65886f"/>
          </a:solidFill>
          <a:ln w="12600">
            <a:solidFill>
              <a:srgbClr val="65886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10"/>
          <p:cNvSpPr/>
          <p:nvPr/>
        </p:nvSpPr>
        <p:spPr>
          <a:xfrm>
            <a:off x="4306680" y="3168360"/>
            <a:ext cx="1225080" cy="20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30" strike="noStrike" u="none">
                <a:solidFill>
                  <a:srgbClr val="ffffff"/>
                </a:solidFill>
                <a:effectLst/>
                <a:uFillTx/>
                <a:latin typeface="Noto Sans CJK JP"/>
                <a:ea typeface="Noto Sans CJK JP"/>
              </a:rPr>
              <a:t>T113 / AbLang2</a:t>
            </a:r>
            <a:endParaRPr b="0" lang="en-US" sz="9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Shape 11"/>
          <p:cNvSpPr/>
          <p:nvPr/>
        </p:nvSpPr>
        <p:spPr>
          <a:xfrm>
            <a:off x="621720" y="3758040"/>
            <a:ext cx="5230080" cy="190152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600">
            <a:solidFill>
              <a:srgbClr val="c9d2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12"/>
          <p:cNvSpPr/>
          <p:nvPr/>
        </p:nvSpPr>
        <p:spPr>
          <a:xfrm>
            <a:off x="868680" y="3931920"/>
            <a:ext cx="43887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243746"/>
                </a:solidFill>
                <a:effectLst/>
                <a:uFillTx/>
                <a:latin typeface="Noto Sans CJK JP"/>
                <a:ea typeface="Noto Sans CJK JP"/>
              </a:rPr>
              <a:t>ARCH-7  |  REG-only cross-attention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Shape 13"/>
          <p:cNvSpPr/>
          <p:nvPr/>
        </p:nvSpPr>
        <p:spPr>
          <a:xfrm>
            <a:off x="932760" y="4489560"/>
            <a:ext cx="1051200" cy="585000"/>
          </a:xfrm>
          <a:prstGeom prst="roundRect">
            <a:avLst>
              <a:gd name="adj" fmla="val 12500"/>
            </a:avLst>
          </a:prstGeom>
          <a:solidFill>
            <a:srgbClr val="eef3f7"/>
          </a:solidFill>
          <a:ln w="12600">
            <a:solidFill>
              <a:srgbClr val="d8de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14"/>
          <p:cNvSpPr/>
          <p:nvPr/>
        </p:nvSpPr>
        <p:spPr>
          <a:xfrm>
            <a:off x="1005840" y="4544640"/>
            <a:ext cx="9050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trike="noStrike" u="none">
                <a:solidFill>
                  <a:srgbClr val="1f2933"/>
                </a:solidFill>
                <a:effectLst/>
                <a:uFillTx/>
                <a:latin typeface="Noto Sans CJK JP"/>
                <a:ea typeface="Noto Sans CJK JP"/>
              </a:rPr>
              <a:t>Heavy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trike="noStrike" u="none">
                <a:solidFill>
                  <a:srgbClr val="1f2933"/>
                </a:solidFill>
                <a:effectLst/>
                <a:uFillTx/>
                <a:latin typeface="Noto Sans CJK JP"/>
                <a:ea typeface="Noto Sans CJK JP"/>
              </a:rPr>
              <a:t>encoder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Shape 15"/>
          <p:cNvSpPr/>
          <p:nvPr/>
        </p:nvSpPr>
        <p:spPr>
          <a:xfrm>
            <a:off x="2267640" y="4489560"/>
            <a:ext cx="731160" cy="5850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600">
            <a:solidFill>
              <a:srgbClr val="d8de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16"/>
          <p:cNvSpPr/>
          <p:nvPr/>
        </p:nvSpPr>
        <p:spPr>
          <a:xfrm>
            <a:off x="2340720" y="4544640"/>
            <a:ext cx="5850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trike="noStrike" u="none">
                <a:solidFill>
                  <a:srgbClr val="1f2933"/>
                </a:solidFill>
                <a:effectLst/>
                <a:uFillTx/>
                <a:latin typeface="Noto Sans CJK JP"/>
                <a:ea typeface="Noto Sans CJK JP"/>
              </a:rPr>
              <a:t>REG_H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Shape 17"/>
          <p:cNvSpPr/>
          <p:nvPr/>
        </p:nvSpPr>
        <p:spPr>
          <a:xfrm>
            <a:off x="4251960" y="4489560"/>
            <a:ext cx="1206720" cy="585000"/>
          </a:xfrm>
          <a:prstGeom prst="roundRect">
            <a:avLst>
              <a:gd name="adj" fmla="val 12500"/>
            </a:avLst>
          </a:prstGeom>
          <a:solidFill>
            <a:srgbClr val="eef3f7"/>
          </a:solidFill>
          <a:ln w="12600">
            <a:solidFill>
              <a:srgbClr val="d8de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18"/>
          <p:cNvSpPr/>
          <p:nvPr/>
        </p:nvSpPr>
        <p:spPr>
          <a:xfrm>
            <a:off x="4325040" y="4544640"/>
            <a:ext cx="10602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trike="noStrike" u="none">
                <a:solidFill>
                  <a:srgbClr val="1f2933"/>
                </a:solidFill>
                <a:effectLst/>
                <a:uFillTx/>
                <a:latin typeface="Noto Sans CJK JP"/>
                <a:ea typeface="Noto Sans CJK JP"/>
              </a:rPr>
              <a:t>Light residues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Shape 19"/>
          <p:cNvSpPr/>
          <p:nvPr/>
        </p:nvSpPr>
        <p:spPr>
          <a:xfrm>
            <a:off x="1993320" y="4782240"/>
            <a:ext cx="274320" cy="360"/>
          </a:xfrm>
          <a:prstGeom prst="line">
            <a:avLst/>
          </a:prstGeom>
          <a:ln w="19080">
            <a:solidFill>
              <a:srgbClr val="3c566b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Shape 20"/>
          <p:cNvSpPr/>
          <p:nvPr/>
        </p:nvSpPr>
        <p:spPr>
          <a:xfrm>
            <a:off x="3008160" y="4782240"/>
            <a:ext cx="1216080" cy="360"/>
          </a:xfrm>
          <a:prstGeom prst="line">
            <a:avLst/>
          </a:prstGeom>
          <a:ln w="23040">
            <a:solidFill>
              <a:srgbClr val="4f7f78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21"/>
          <p:cNvSpPr/>
          <p:nvPr/>
        </p:nvSpPr>
        <p:spPr>
          <a:xfrm>
            <a:off x="932760" y="5193720"/>
            <a:ext cx="34286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20" strike="noStrike" u="none">
                <a:solidFill>
                  <a:srgbClr val="5e6b75"/>
                </a:solidFill>
                <a:effectLst/>
                <a:uFillTx/>
                <a:latin typeface="Noto Sans CJK JP"/>
                <a:ea typeface="Noto Sans CJK JP"/>
              </a:rPr>
              <a:t>REG_H</a:t>
            </a:r>
            <a:r>
              <a:rPr b="0" lang="zh-CN" sz="1020" strike="noStrike" u="none">
                <a:solidFill>
                  <a:srgbClr val="5e6b75"/>
                </a:solidFill>
                <a:effectLst/>
                <a:uFillTx/>
                <a:latin typeface="Noto Sans CJK JP"/>
                <a:ea typeface="Noto Sans CJK JP"/>
              </a:rPr>
              <a:t>だけが相手鎖残基を読む</a:t>
            </a:r>
            <a:endParaRPr b="0" lang="en-US" sz="10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1020" strike="noStrike" u="none">
                <a:solidFill>
                  <a:srgbClr val="5e6b75"/>
                </a:solidFill>
                <a:effectLst/>
                <a:uFillTx/>
                <a:latin typeface="Noto Sans CJK JP"/>
                <a:ea typeface="Noto Sans CJK JP"/>
              </a:rPr>
              <a:t>（</a:t>
            </a:r>
            <a:r>
              <a:rPr b="0" lang="en-US" sz="1020" strike="noStrike" u="none">
                <a:solidFill>
                  <a:srgbClr val="5e6b75"/>
                </a:solidFill>
                <a:effectLst/>
                <a:uFillTx/>
                <a:latin typeface="Noto Sans CJK JP"/>
                <a:ea typeface="Noto Sans CJK JP"/>
              </a:rPr>
              <a:t>H↔L residue</a:t>
            </a:r>
            <a:r>
              <a:rPr b="0" lang="zh-CN" sz="1020" strike="noStrike" u="none">
                <a:solidFill>
                  <a:srgbClr val="5e6b75"/>
                </a:solidFill>
                <a:effectLst/>
                <a:uFillTx/>
                <a:latin typeface="Noto Sans CJK JP"/>
                <a:ea typeface="Noto Sans CJK JP"/>
              </a:rPr>
              <a:t>全面混合はしない）</a:t>
            </a:r>
            <a:endParaRPr b="0" lang="en-US" sz="10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Shape 22"/>
          <p:cNvSpPr/>
          <p:nvPr/>
        </p:nvSpPr>
        <p:spPr>
          <a:xfrm>
            <a:off x="4279320" y="5230440"/>
            <a:ext cx="1279800" cy="310680"/>
          </a:xfrm>
          <a:prstGeom prst="roundRect">
            <a:avLst>
              <a:gd name="adj" fmla="val 23529"/>
            </a:avLst>
          </a:prstGeom>
          <a:solidFill>
            <a:srgbClr val="65886f"/>
          </a:solidFill>
          <a:ln w="12600">
            <a:solidFill>
              <a:srgbClr val="65886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23"/>
          <p:cNvSpPr/>
          <p:nvPr/>
        </p:nvSpPr>
        <p:spPr>
          <a:xfrm>
            <a:off x="4306680" y="5271480"/>
            <a:ext cx="1225080" cy="20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30" strike="noStrike" u="none">
                <a:solidFill>
                  <a:srgbClr val="ffffff"/>
                </a:solidFill>
                <a:effectLst/>
                <a:uFillTx/>
                <a:latin typeface="Noto Sans CJK JP"/>
                <a:ea typeface="Noto Sans CJK JP"/>
              </a:rPr>
              <a:t>T121 / AbLang2</a:t>
            </a:r>
            <a:endParaRPr b="0" lang="en-US" sz="9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Shape 24"/>
          <p:cNvSpPr/>
          <p:nvPr/>
        </p:nvSpPr>
        <p:spPr>
          <a:xfrm>
            <a:off x="6199560" y="1234440"/>
            <a:ext cx="731160" cy="310680"/>
          </a:xfrm>
          <a:prstGeom prst="roundRect">
            <a:avLst>
              <a:gd name="adj" fmla="val 23529"/>
            </a:avLst>
          </a:prstGeom>
          <a:solidFill>
            <a:srgbClr val="4f7f78"/>
          </a:solidFill>
          <a:ln w="12600">
            <a:solidFill>
              <a:srgbClr val="4f7f7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" name="Text 25"/>
          <p:cNvSpPr/>
          <p:nvPr/>
        </p:nvSpPr>
        <p:spPr>
          <a:xfrm>
            <a:off x="6226920" y="1275480"/>
            <a:ext cx="676440" cy="20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30" strike="noStrike" u="none">
                <a:solidFill>
                  <a:srgbClr val="ffffff"/>
                </a:solidFill>
                <a:effectLst/>
                <a:uFillTx/>
                <a:latin typeface="Noto Sans CJK JP"/>
                <a:ea typeface="Noto Sans CJK JP"/>
              </a:rPr>
              <a:t>HIC</a:t>
            </a:r>
            <a:endParaRPr b="0" lang="en-US" sz="9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Shape 26"/>
          <p:cNvSpPr/>
          <p:nvPr/>
        </p:nvSpPr>
        <p:spPr>
          <a:xfrm>
            <a:off x="6199560" y="1673280"/>
            <a:ext cx="5376240" cy="223992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600">
            <a:solidFill>
              <a:srgbClr val="c9d2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 27"/>
          <p:cNvSpPr/>
          <p:nvPr/>
        </p:nvSpPr>
        <p:spPr>
          <a:xfrm>
            <a:off x="6446520" y="1847160"/>
            <a:ext cx="43887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243746"/>
                </a:solidFill>
                <a:effectLst/>
                <a:uFillTx/>
                <a:latin typeface="Noto Sans CJK JP"/>
                <a:ea typeface="Noto Sans CJK JP"/>
              </a:rPr>
              <a:t>ARCH-4 + SURFACE  |  ESM-2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 28"/>
          <p:cNvSpPr/>
          <p:nvPr/>
        </p:nvSpPr>
        <p:spPr>
          <a:xfrm>
            <a:off x="6473880" y="2340720"/>
            <a:ext cx="214848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1120" strike="noStrike" u="none">
                <a:solidFill>
                  <a:srgbClr val="1f2933"/>
                </a:solidFill>
                <a:effectLst/>
                <a:uFillTx/>
                <a:latin typeface="Noto Sans CJK JP"/>
                <a:ea typeface="Noto Sans CJK JP"/>
              </a:rPr>
              <a:t>残基：</a:t>
            </a:r>
            <a:r>
              <a:rPr b="0" lang="en-US" sz="1120" strike="noStrike" u="none">
                <a:solidFill>
                  <a:srgbClr val="1f2933"/>
                </a:solidFill>
                <a:effectLst/>
                <a:uFillTx/>
                <a:latin typeface="Noto Sans CJK JP"/>
                <a:ea typeface="Noto Sans CJK JP"/>
              </a:rPr>
              <a:t>H ↔ L communication</a:t>
            </a:r>
            <a:endParaRPr b="0" lang="en-US" sz="11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20" strike="noStrike" u="none">
                <a:solidFill>
                  <a:srgbClr val="1f2933"/>
                </a:solidFill>
                <a:effectLst/>
                <a:uFillTx/>
                <a:latin typeface="Noto Sans CJK JP"/>
                <a:ea typeface="Noto Sans CJK JP"/>
              </a:rPr>
              <a:t>REG</a:t>
            </a:r>
            <a:r>
              <a:rPr b="0" lang="zh-CN" sz="1120" strike="noStrike" u="none">
                <a:solidFill>
                  <a:srgbClr val="1f2933"/>
                </a:solidFill>
                <a:effectLst/>
                <a:uFillTx/>
                <a:latin typeface="Noto Sans CJK JP"/>
                <a:ea typeface="Noto Sans CJK JP"/>
              </a:rPr>
              <a:t>：</a:t>
            </a:r>
            <a:r>
              <a:rPr b="0" lang="en-US" sz="1120" strike="noStrike" u="none">
                <a:solidFill>
                  <a:srgbClr val="1f2933"/>
                </a:solidFill>
                <a:effectLst/>
                <a:uFillTx/>
                <a:latin typeface="Noto Sans CJK JP"/>
                <a:ea typeface="Noto Sans CJK JP"/>
              </a:rPr>
              <a:t>Heavy / Light </a:t>
            </a:r>
            <a:r>
              <a:rPr b="0" lang="zh-CN" sz="1120" strike="noStrike" u="none">
                <a:solidFill>
                  <a:srgbClr val="1f2933"/>
                </a:solidFill>
                <a:effectLst/>
                <a:uFillTx/>
                <a:latin typeface="Noto Sans CJK JP"/>
                <a:ea typeface="Noto Sans CJK JP"/>
              </a:rPr>
              <a:t>の役割を保持</a:t>
            </a:r>
            <a:endParaRPr b="0" lang="en-US" sz="11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Shape 29"/>
          <p:cNvSpPr/>
          <p:nvPr/>
        </p:nvSpPr>
        <p:spPr>
          <a:xfrm>
            <a:off x="8832960" y="2194560"/>
            <a:ext cx="932400" cy="658080"/>
          </a:xfrm>
          <a:prstGeom prst="roundRect">
            <a:avLst>
              <a:gd name="adj" fmla="val 11111"/>
            </a:avLst>
          </a:prstGeom>
          <a:solidFill>
            <a:srgbClr val="eaf2ee"/>
          </a:solidFill>
          <a:ln w="12600">
            <a:solidFill>
              <a:srgbClr val="d8de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 30"/>
          <p:cNvSpPr/>
          <p:nvPr/>
        </p:nvSpPr>
        <p:spPr>
          <a:xfrm>
            <a:off x="8906400" y="2249280"/>
            <a:ext cx="7858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trike="noStrike" u="none">
                <a:solidFill>
                  <a:srgbClr val="1f2933"/>
                </a:solidFill>
                <a:effectLst/>
                <a:uFillTx/>
                <a:latin typeface="Noto Sans CJK JP"/>
                <a:ea typeface="Noto Sans CJK JP"/>
              </a:rPr>
              <a:t>ESM-2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trike="noStrike" u="none">
                <a:solidFill>
                  <a:srgbClr val="1f2933"/>
                </a:solidFill>
                <a:effectLst/>
                <a:uFillTx/>
                <a:latin typeface="Noto Sans CJK JP"/>
                <a:ea typeface="Noto Sans CJK JP"/>
              </a:rPr>
              <a:t>residue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Shape 31"/>
          <p:cNvSpPr/>
          <p:nvPr/>
        </p:nvSpPr>
        <p:spPr>
          <a:xfrm>
            <a:off x="10012680" y="2194560"/>
            <a:ext cx="932400" cy="658080"/>
          </a:xfrm>
          <a:prstGeom prst="roundRect">
            <a:avLst>
              <a:gd name="adj" fmla="val 11111"/>
            </a:avLst>
          </a:prstGeom>
          <a:solidFill>
            <a:srgbClr val="eef3f7"/>
          </a:solidFill>
          <a:ln w="12600">
            <a:solidFill>
              <a:srgbClr val="d8de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32"/>
          <p:cNvSpPr/>
          <p:nvPr/>
        </p:nvSpPr>
        <p:spPr>
          <a:xfrm>
            <a:off x="10085760" y="2249280"/>
            <a:ext cx="7858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trike="noStrike" u="none">
                <a:solidFill>
                  <a:srgbClr val="1f2933"/>
                </a:solidFill>
                <a:effectLst/>
                <a:uFillTx/>
                <a:latin typeface="Noto Sans CJK JP"/>
                <a:ea typeface="Noto Sans CJK JP"/>
              </a:rPr>
              <a:t>ARCH-4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Shape 33"/>
          <p:cNvSpPr/>
          <p:nvPr/>
        </p:nvSpPr>
        <p:spPr>
          <a:xfrm>
            <a:off x="9765720" y="2523600"/>
            <a:ext cx="237600" cy="360"/>
          </a:xfrm>
          <a:prstGeom prst="line">
            <a:avLst/>
          </a:prstGeom>
          <a:ln w="20160">
            <a:solidFill>
              <a:srgbClr val="5b7e95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Shape 34"/>
          <p:cNvSpPr/>
          <p:nvPr/>
        </p:nvSpPr>
        <p:spPr>
          <a:xfrm>
            <a:off x="8832960" y="3026520"/>
            <a:ext cx="932400" cy="658080"/>
          </a:xfrm>
          <a:prstGeom prst="roundRect">
            <a:avLst>
              <a:gd name="adj" fmla="val 11111"/>
            </a:avLst>
          </a:prstGeom>
          <a:solidFill>
            <a:srgbClr val="f5f0e8"/>
          </a:solidFill>
          <a:ln w="12600">
            <a:solidFill>
              <a:srgbClr val="d6c6a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 35"/>
          <p:cNvSpPr/>
          <p:nvPr/>
        </p:nvSpPr>
        <p:spPr>
          <a:xfrm>
            <a:off x="8906400" y="3081600"/>
            <a:ext cx="7858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715c3a"/>
                </a:solidFill>
                <a:effectLst/>
                <a:uFillTx/>
                <a:latin typeface="Noto Sans CJK JP"/>
                <a:ea typeface="Noto Sans CJK JP"/>
              </a:rPr>
              <a:t>SURFACE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715c3a"/>
                </a:solidFill>
                <a:effectLst/>
                <a:uFillTx/>
                <a:latin typeface="Noto Sans CJK JP"/>
                <a:ea typeface="Noto Sans CJK JP"/>
              </a:rPr>
              <a:t>35 features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Shape 36"/>
          <p:cNvSpPr/>
          <p:nvPr/>
        </p:nvSpPr>
        <p:spPr>
          <a:xfrm>
            <a:off x="9765720" y="3355560"/>
            <a:ext cx="877680" cy="360"/>
          </a:xfrm>
          <a:prstGeom prst="line">
            <a:avLst/>
          </a:prstGeom>
          <a:ln w="20160">
            <a:solidFill>
              <a:srgbClr val="a27b4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Shape 37"/>
          <p:cNvSpPr/>
          <p:nvPr/>
        </p:nvSpPr>
        <p:spPr>
          <a:xfrm>
            <a:off x="10515600" y="3090600"/>
            <a:ext cx="658080" cy="310680"/>
          </a:xfrm>
          <a:prstGeom prst="roundRect">
            <a:avLst>
              <a:gd name="adj" fmla="val 23529"/>
            </a:avLst>
          </a:prstGeom>
          <a:solidFill>
            <a:srgbClr val="65886f"/>
          </a:solidFill>
          <a:ln w="12600">
            <a:solidFill>
              <a:srgbClr val="65886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38"/>
          <p:cNvSpPr/>
          <p:nvPr/>
        </p:nvSpPr>
        <p:spPr>
          <a:xfrm>
            <a:off x="10542960" y="3132000"/>
            <a:ext cx="603000" cy="20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30" strike="noStrike" u="none">
                <a:solidFill>
                  <a:srgbClr val="ffffff"/>
                </a:solidFill>
                <a:effectLst/>
                <a:uFillTx/>
                <a:latin typeface="Noto Sans CJK JP"/>
                <a:ea typeface="Noto Sans CJK JP"/>
              </a:rPr>
              <a:t>H086</a:t>
            </a:r>
            <a:endParaRPr b="0" lang="en-US" sz="9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Shape 39"/>
          <p:cNvSpPr/>
          <p:nvPr/>
        </p:nvSpPr>
        <p:spPr>
          <a:xfrm>
            <a:off x="6199560" y="4160520"/>
            <a:ext cx="5376240" cy="149940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600">
            <a:solidFill>
              <a:srgbClr val="c9d2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 40"/>
          <p:cNvSpPr/>
          <p:nvPr/>
        </p:nvSpPr>
        <p:spPr>
          <a:xfrm>
            <a:off x="6446520" y="4325040"/>
            <a:ext cx="4571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243746"/>
                </a:solidFill>
                <a:effectLst/>
                <a:uFillTx/>
                <a:latin typeface="Noto Sans CJK JP"/>
                <a:ea typeface="Noto Sans CJK JP"/>
              </a:rPr>
              <a:t>Joint single REG + SURFACE  |  Scratch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 41"/>
          <p:cNvSpPr/>
          <p:nvPr/>
        </p:nvSpPr>
        <p:spPr>
          <a:xfrm>
            <a:off x="6492240" y="4773240"/>
            <a:ext cx="4160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60" strike="noStrike" u="none">
                <a:solidFill>
                  <a:srgbClr val="1f2933"/>
                </a:solidFill>
                <a:effectLst/>
                <a:uFillTx/>
                <a:latin typeface="Noto Sans Mono CJK JP"/>
                <a:ea typeface="Noto Sans Mono CJK JP"/>
              </a:rPr>
              <a:t>[REG] H1 … Hn L1 … Lm  →  joint attention  →  REG</a:t>
            </a:r>
            <a:endParaRPr b="0" lang="en-US" sz="10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 42"/>
          <p:cNvSpPr/>
          <p:nvPr/>
        </p:nvSpPr>
        <p:spPr>
          <a:xfrm>
            <a:off x="6528960" y="5166360"/>
            <a:ext cx="416016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30" strike="noStrike" u="none">
                <a:solidFill>
                  <a:srgbClr val="5e6b75"/>
                </a:solidFill>
                <a:effectLst/>
                <a:uFillTx/>
                <a:latin typeface="Noto Sans CJK JP"/>
                <a:ea typeface="Noto Sans CJK JP"/>
              </a:rPr>
              <a:t>PLM</a:t>
            </a:r>
            <a:r>
              <a:rPr b="0" lang="zh-CN" sz="1030" strike="noStrike" u="none">
                <a:solidFill>
                  <a:srgbClr val="5e6b75"/>
                </a:solidFill>
                <a:effectLst/>
                <a:uFillTx/>
                <a:latin typeface="Noto Sans CJK JP"/>
                <a:ea typeface="Noto Sans CJK JP"/>
              </a:rPr>
              <a:t>なしでも、抗体</a:t>
            </a:r>
            <a:r>
              <a:rPr b="0" lang="en-US" sz="1030" strike="noStrike" u="none">
                <a:solidFill>
                  <a:srgbClr val="5e6b75"/>
                </a:solidFill>
                <a:effectLst/>
                <a:uFillTx/>
                <a:latin typeface="Noto Sans CJK JP"/>
                <a:ea typeface="Noto Sans CJK JP"/>
              </a:rPr>
              <a:t>annotation + H/L joint</a:t>
            </a:r>
            <a:r>
              <a:rPr b="0" lang="zh-CN" sz="1030" strike="noStrike" u="none">
                <a:solidFill>
                  <a:srgbClr val="5e6b75"/>
                </a:solidFill>
                <a:effectLst/>
                <a:uFillTx/>
                <a:latin typeface="Noto Sans CJK JP"/>
                <a:ea typeface="Noto Sans CJK JP"/>
              </a:rPr>
              <a:t>化 </a:t>
            </a:r>
            <a:r>
              <a:rPr b="0" lang="en-US" sz="1030" strike="noStrike" u="none">
                <a:solidFill>
                  <a:srgbClr val="5e6b75"/>
                </a:solidFill>
                <a:effectLst/>
                <a:uFillTx/>
                <a:latin typeface="Noto Sans CJK JP"/>
                <a:ea typeface="Noto Sans CJK JP"/>
              </a:rPr>
              <a:t>+ SURFACE</a:t>
            </a:r>
            <a:r>
              <a:rPr b="0" lang="zh-CN" sz="1030" strike="noStrike" u="none">
                <a:solidFill>
                  <a:srgbClr val="5e6b75"/>
                </a:solidFill>
                <a:effectLst/>
                <a:uFillTx/>
                <a:latin typeface="Noto Sans CJK JP"/>
                <a:ea typeface="Noto Sans CJK JP"/>
              </a:rPr>
              <a:t>で競争力</a:t>
            </a:r>
            <a:endParaRPr b="0" lang="en-US" sz="10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Shape 43"/>
          <p:cNvSpPr/>
          <p:nvPr/>
        </p:nvSpPr>
        <p:spPr>
          <a:xfrm>
            <a:off x="10515600" y="5148000"/>
            <a:ext cx="658080" cy="310680"/>
          </a:xfrm>
          <a:prstGeom prst="roundRect">
            <a:avLst>
              <a:gd name="adj" fmla="val 23529"/>
            </a:avLst>
          </a:prstGeom>
          <a:solidFill>
            <a:srgbClr val="65886f"/>
          </a:solidFill>
          <a:ln w="12600">
            <a:solidFill>
              <a:srgbClr val="65886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" name="Text 44"/>
          <p:cNvSpPr/>
          <p:nvPr/>
        </p:nvSpPr>
        <p:spPr>
          <a:xfrm>
            <a:off x="10542960" y="5189400"/>
            <a:ext cx="603000" cy="20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30" strike="noStrike" u="none">
                <a:solidFill>
                  <a:srgbClr val="ffffff"/>
                </a:solidFill>
                <a:effectLst/>
                <a:uFillTx/>
                <a:latin typeface="Noto Sans CJK JP"/>
                <a:ea typeface="Noto Sans CJK JP"/>
              </a:rPr>
              <a:t>H090</a:t>
            </a:r>
            <a:endParaRPr b="0" lang="en-US" sz="9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PlaceHolder 1"/>
          <p:cNvSpPr>
            <a:spLocks noGrp="1"/>
          </p:cNvSpPr>
          <p:nvPr>
            <p:ph type="sldNum" idx="6"/>
          </p:nvPr>
        </p:nvSpPr>
        <p:spPr>
          <a:xfrm>
            <a:off x="11640240" y="645552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850" strike="noStrike" u="none">
                <a:solidFill>
                  <a:srgbClr val="6b7785"/>
                </a:solidFill>
                <a:effectLst/>
                <a:uFillTx/>
                <a:latin typeface="Noto Sans CJK JP"/>
                <a:ea typeface="Noto Sans CJK JP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EFFB533C-502A-45D8-85C0-3190E060AA39}" type="slidenum">
              <a:rPr b="0" lang="en-US" sz="850" strike="noStrike" u="none">
                <a:solidFill>
                  <a:srgbClr val="6b7785"/>
                </a:solidFill>
                <a:effectLst/>
                <a:uFillTx/>
                <a:latin typeface="Noto Sans CJK JP"/>
                <a:ea typeface="Noto Sans CJK JP"/>
              </a:rPr>
              <a:t>&lt;number&gt;</a:t>
            </a:fld>
            <a:endParaRPr b="0" lang="en-US" sz="8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Text 0"/>
          <p:cNvSpPr/>
          <p:nvPr/>
        </p:nvSpPr>
        <p:spPr>
          <a:xfrm>
            <a:off x="530280" y="347400"/>
            <a:ext cx="1110960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2400" strike="noStrike" u="none">
                <a:solidFill>
                  <a:srgbClr val="243746"/>
                </a:solidFill>
                <a:effectLst/>
                <a:uFillTx/>
                <a:latin typeface="Noto Sans CJK JP"/>
                <a:ea typeface="Noto Sans CJK JP"/>
              </a:rPr>
              <a:t>結果の整理：</a:t>
            </a:r>
            <a:r>
              <a:rPr b="1" lang="en-US" sz="2400" strike="noStrike" u="none">
                <a:solidFill>
                  <a:srgbClr val="243746"/>
                </a:solidFill>
                <a:effectLst/>
                <a:uFillTx/>
                <a:latin typeface="Noto Sans CJK JP"/>
                <a:ea typeface="Noto Sans CJK JP"/>
              </a:rPr>
              <a:t>PLM</a:t>
            </a:r>
            <a:r>
              <a:rPr b="1" lang="zh-CN" sz="2400" strike="noStrike" u="none">
                <a:solidFill>
                  <a:srgbClr val="243746"/>
                </a:solidFill>
                <a:effectLst/>
                <a:uFillTx/>
                <a:latin typeface="Noto Sans CJK JP"/>
                <a:ea typeface="Noto Sans CJK JP"/>
              </a:rPr>
              <a:t>は有効。ただし「抗体らしい構造設計」も無視できない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 1"/>
          <p:cNvSpPr/>
          <p:nvPr/>
        </p:nvSpPr>
        <p:spPr>
          <a:xfrm>
            <a:off x="548640" y="831960"/>
            <a:ext cx="11018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5e6b75"/>
                </a:solidFill>
                <a:effectLst/>
                <a:uFillTx/>
                <a:latin typeface="Noto Sans CJK JP"/>
                <a:ea typeface="Noto Sans CJK JP"/>
              </a:rPr>
              <a:t>MAE</a:t>
            </a:r>
            <a:r>
              <a:rPr b="0" lang="zh-CN" sz="1050" strike="noStrike" u="none">
                <a:solidFill>
                  <a:srgbClr val="5e6b75"/>
                </a:solidFill>
                <a:effectLst/>
                <a:uFillTx/>
                <a:latin typeface="Noto Sans CJK JP"/>
                <a:ea typeface="Noto Sans CJK JP"/>
              </a:rPr>
              <a:t>は低いほど良い。</a:t>
            </a:r>
            <a:r>
              <a:rPr b="0" lang="en-US" sz="1050" strike="noStrike" u="none">
                <a:solidFill>
                  <a:srgbClr val="5e6b75"/>
                </a:solidFill>
                <a:effectLst/>
                <a:uFillTx/>
                <a:latin typeface="Noto Sans CJK JP"/>
                <a:ea typeface="Noto Sans CJK JP"/>
              </a:rPr>
              <a:t>TmApp</a:t>
            </a:r>
            <a:r>
              <a:rPr b="0" lang="zh-CN" sz="1050" strike="noStrike" u="none">
                <a:solidFill>
                  <a:srgbClr val="5e6b75"/>
                </a:solidFill>
                <a:effectLst/>
                <a:uFillTx/>
                <a:latin typeface="Noto Sans CJK JP"/>
                <a:ea typeface="Noto Sans CJK JP"/>
              </a:rPr>
              <a:t>と</a:t>
            </a:r>
            <a:r>
              <a:rPr b="0" lang="en-US" sz="1050" strike="noStrike" u="none">
                <a:solidFill>
                  <a:srgbClr val="5e6b75"/>
                </a:solidFill>
                <a:effectLst/>
                <a:uFillTx/>
                <a:latin typeface="Noto Sans CJK JP"/>
                <a:ea typeface="Noto Sans CJK JP"/>
              </a:rPr>
              <a:t>HIC</a:t>
            </a:r>
            <a:r>
              <a:rPr b="0" lang="zh-CN" sz="1050" strike="noStrike" u="none">
                <a:solidFill>
                  <a:srgbClr val="5e6b75"/>
                </a:solidFill>
                <a:effectLst/>
                <a:uFillTx/>
                <a:latin typeface="Noto Sans CJK JP"/>
                <a:ea typeface="Noto Sans CJK JP"/>
              </a:rPr>
              <a:t>は単位が異なるため、横方向の数値比較はしない。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Shape 2"/>
          <p:cNvSpPr/>
          <p:nvPr/>
        </p:nvSpPr>
        <p:spPr>
          <a:xfrm>
            <a:off x="658440" y="1243440"/>
            <a:ext cx="1325520" cy="310680"/>
          </a:xfrm>
          <a:prstGeom prst="roundRect">
            <a:avLst>
              <a:gd name="adj" fmla="val 23529"/>
            </a:avLst>
          </a:prstGeom>
          <a:solidFill>
            <a:srgbClr val="3c566b"/>
          </a:solidFill>
          <a:ln w="12600">
            <a:solidFill>
              <a:srgbClr val="3c56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" name="Text 3"/>
          <p:cNvSpPr/>
          <p:nvPr/>
        </p:nvSpPr>
        <p:spPr>
          <a:xfrm>
            <a:off x="685800" y="1284840"/>
            <a:ext cx="1270800" cy="20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30" strike="noStrike" u="none">
                <a:solidFill>
                  <a:srgbClr val="ffffff"/>
                </a:solidFill>
                <a:effectLst/>
                <a:uFillTx/>
                <a:latin typeface="Noto Sans CJK JP"/>
                <a:ea typeface="Noto Sans CJK JP"/>
              </a:rPr>
              <a:t>TmApp  OOF TEST</a:t>
            </a:r>
            <a:endParaRPr b="0" lang="en-US" sz="9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Shape 4"/>
          <p:cNvSpPr/>
          <p:nvPr/>
        </p:nvSpPr>
        <p:spPr>
          <a:xfrm>
            <a:off x="658440" y="1664280"/>
            <a:ext cx="1005480" cy="402120"/>
          </a:xfrm>
          <a:prstGeom prst="rect">
            <a:avLst/>
          </a:prstGeom>
          <a:solidFill>
            <a:srgbClr val="dde5eb"/>
          </a:solidFill>
          <a:ln w="12600">
            <a:solidFill>
              <a:srgbClr val="cbd4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Text 5"/>
          <p:cNvSpPr/>
          <p:nvPr/>
        </p:nvSpPr>
        <p:spPr>
          <a:xfrm>
            <a:off x="685800" y="1774080"/>
            <a:ext cx="9507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243746"/>
                </a:solidFill>
                <a:effectLst/>
                <a:uFillTx/>
                <a:latin typeface="Noto Sans CJK JP"/>
                <a:ea typeface="Noto Sans CJK JP"/>
              </a:rPr>
              <a:t>EXP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Shape 6"/>
          <p:cNvSpPr/>
          <p:nvPr/>
        </p:nvSpPr>
        <p:spPr>
          <a:xfrm>
            <a:off x="1664280" y="1664280"/>
            <a:ext cx="1416960" cy="402120"/>
          </a:xfrm>
          <a:prstGeom prst="rect">
            <a:avLst/>
          </a:prstGeom>
          <a:solidFill>
            <a:srgbClr val="dde5eb"/>
          </a:solidFill>
          <a:ln w="12600">
            <a:solidFill>
              <a:srgbClr val="cbd4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Text 7"/>
          <p:cNvSpPr/>
          <p:nvPr/>
        </p:nvSpPr>
        <p:spPr>
          <a:xfrm>
            <a:off x="1691640" y="1774080"/>
            <a:ext cx="13622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243746"/>
                </a:solidFill>
                <a:effectLst/>
                <a:uFillTx/>
                <a:latin typeface="Noto Sans CJK JP"/>
                <a:ea typeface="Noto Sans CJK JP"/>
              </a:rPr>
              <a:t>Residue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Shape 8"/>
          <p:cNvSpPr/>
          <p:nvPr/>
        </p:nvSpPr>
        <p:spPr>
          <a:xfrm>
            <a:off x="3081600" y="1664280"/>
            <a:ext cx="2029680" cy="402120"/>
          </a:xfrm>
          <a:prstGeom prst="rect">
            <a:avLst/>
          </a:prstGeom>
          <a:solidFill>
            <a:srgbClr val="dde5eb"/>
          </a:solidFill>
          <a:ln w="12600">
            <a:solidFill>
              <a:srgbClr val="cbd4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9"/>
          <p:cNvSpPr/>
          <p:nvPr/>
        </p:nvSpPr>
        <p:spPr>
          <a:xfrm>
            <a:off x="3108960" y="1774080"/>
            <a:ext cx="197460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243746"/>
                </a:solidFill>
                <a:effectLst/>
                <a:uFillTx/>
                <a:latin typeface="Noto Sans CJK JP"/>
                <a:ea typeface="Noto Sans CJK JP"/>
              </a:rPr>
              <a:t>Architecture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Shape 10"/>
          <p:cNvSpPr/>
          <p:nvPr/>
        </p:nvSpPr>
        <p:spPr>
          <a:xfrm>
            <a:off x="5111640" y="1664280"/>
            <a:ext cx="932400" cy="402120"/>
          </a:xfrm>
          <a:prstGeom prst="rect">
            <a:avLst/>
          </a:prstGeom>
          <a:solidFill>
            <a:srgbClr val="dde5eb"/>
          </a:solidFill>
          <a:ln w="12600">
            <a:solidFill>
              <a:srgbClr val="cbd4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 11"/>
          <p:cNvSpPr/>
          <p:nvPr/>
        </p:nvSpPr>
        <p:spPr>
          <a:xfrm>
            <a:off x="5139000" y="1774080"/>
            <a:ext cx="8773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243746"/>
                </a:solidFill>
                <a:effectLst/>
                <a:uFillTx/>
                <a:latin typeface="Noto Sans CJK JP"/>
                <a:ea typeface="Noto Sans CJK JP"/>
              </a:rPr>
              <a:t>Primary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Shape 12"/>
          <p:cNvSpPr/>
          <p:nvPr/>
        </p:nvSpPr>
        <p:spPr>
          <a:xfrm>
            <a:off x="6044040" y="1664280"/>
            <a:ext cx="932400" cy="402120"/>
          </a:xfrm>
          <a:prstGeom prst="rect">
            <a:avLst/>
          </a:prstGeom>
          <a:solidFill>
            <a:srgbClr val="dde5eb"/>
          </a:solidFill>
          <a:ln w="12600">
            <a:solidFill>
              <a:srgbClr val="cbd4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 13"/>
          <p:cNvSpPr/>
          <p:nvPr/>
        </p:nvSpPr>
        <p:spPr>
          <a:xfrm>
            <a:off x="6071760" y="1774080"/>
            <a:ext cx="8773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243746"/>
                </a:solidFill>
                <a:effectLst/>
                <a:uFillTx/>
                <a:latin typeface="Noto Sans CJK JP"/>
                <a:ea typeface="Noto Sans CJK JP"/>
              </a:rPr>
              <a:t>Shadow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Shape 14"/>
          <p:cNvSpPr/>
          <p:nvPr/>
        </p:nvSpPr>
        <p:spPr>
          <a:xfrm>
            <a:off x="6976800" y="1664280"/>
            <a:ext cx="1023840" cy="402120"/>
          </a:xfrm>
          <a:prstGeom prst="rect">
            <a:avLst/>
          </a:prstGeom>
          <a:solidFill>
            <a:srgbClr val="dde5eb"/>
          </a:solidFill>
          <a:ln w="12600">
            <a:solidFill>
              <a:srgbClr val="cbd4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 15"/>
          <p:cNvSpPr/>
          <p:nvPr/>
        </p:nvSpPr>
        <p:spPr>
          <a:xfrm>
            <a:off x="7004160" y="1774080"/>
            <a:ext cx="9687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243746"/>
                </a:solidFill>
                <a:effectLst/>
                <a:uFillTx/>
                <a:latin typeface="Noto Sans CJK JP"/>
                <a:ea typeface="Noto Sans CJK JP"/>
              </a:rPr>
              <a:t>Mean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Shape 16"/>
          <p:cNvSpPr/>
          <p:nvPr/>
        </p:nvSpPr>
        <p:spPr>
          <a:xfrm>
            <a:off x="658440" y="2066400"/>
            <a:ext cx="1005480" cy="502560"/>
          </a:xfrm>
          <a:prstGeom prst="rect">
            <a:avLst/>
          </a:prstGeom>
          <a:solidFill>
            <a:srgbClr val="ffffff"/>
          </a:solidFill>
          <a:ln w="12600">
            <a:solidFill>
              <a:srgbClr val="d5dce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17"/>
          <p:cNvSpPr/>
          <p:nvPr/>
        </p:nvSpPr>
        <p:spPr>
          <a:xfrm>
            <a:off x="685800" y="2176200"/>
            <a:ext cx="9507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20" strike="noStrike" u="none">
                <a:solidFill>
                  <a:srgbClr val="1f2933"/>
                </a:solidFill>
                <a:effectLst/>
                <a:uFillTx/>
                <a:latin typeface="Noto Sans CJK JP"/>
                <a:ea typeface="Noto Sans CJK JP"/>
              </a:rPr>
              <a:t>T113</a:t>
            </a:r>
            <a:endParaRPr b="0" lang="en-US" sz="10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Shape 18"/>
          <p:cNvSpPr/>
          <p:nvPr/>
        </p:nvSpPr>
        <p:spPr>
          <a:xfrm>
            <a:off x="1664280" y="2066400"/>
            <a:ext cx="1416960" cy="502560"/>
          </a:xfrm>
          <a:prstGeom prst="rect">
            <a:avLst/>
          </a:prstGeom>
          <a:solidFill>
            <a:srgbClr val="ffffff"/>
          </a:solidFill>
          <a:ln w="12600">
            <a:solidFill>
              <a:srgbClr val="d5dce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 19"/>
          <p:cNvSpPr/>
          <p:nvPr/>
        </p:nvSpPr>
        <p:spPr>
          <a:xfrm>
            <a:off x="1691640" y="2176200"/>
            <a:ext cx="13622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20" strike="noStrike" u="none">
                <a:solidFill>
                  <a:srgbClr val="557a68"/>
                </a:solidFill>
                <a:effectLst/>
                <a:uFillTx/>
                <a:latin typeface="Noto Sans CJK JP"/>
                <a:ea typeface="Noto Sans CJK JP"/>
              </a:rPr>
              <a:t>AbLang2</a:t>
            </a:r>
            <a:endParaRPr b="0" lang="en-US" sz="10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Shape 20"/>
          <p:cNvSpPr/>
          <p:nvPr/>
        </p:nvSpPr>
        <p:spPr>
          <a:xfrm>
            <a:off x="3081600" y="2066400"/>
            <a:ext cx="2029680" cy="502560"/>
          </a:xfrm>
          <a:prstGeom prst="rect">
            <a:avLst/>
          </a:prstGeom>
          <a:solidFill>
            <a:srgbClr val="ffffff"/>
          </a:solidFill>
          <a:ln w="12600">
            <a:solidFill>
              <a:srgbClr val="d5dce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 21"/>
          <p:cNvSpPr/>
          <p:nvPr/>
        </p:nvSpPr>
        <p:spPr>
          <a:xfrm>
            <a:off x="3108960" y="2176200"/>
            <a:ext cx="19746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39" strike="noStrike" u="none">
                <a:solidFill>
                  <a:srgbClr val="1f2933"/>
                </a:solidFill>
                <a:effectLst/>
                <a:uFillTx/>
                <a:latin typeface="Noto Sans CJK JP"/>
                <a:ea typeface="Noto Sans CJK JP"/>
              </a:rPr>
              <a:t>ARCH-3 joint dual REG</a:t>
            </a:r>
            <a:endParaRPr b="0" lang="en-US" sz="93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Shape 22"/>
          <p:cNvSpPr/>
          <p:nvPr/>
        </p:nvSpPr>
        <p:spPr>
          <a:xfrm>
            <a:off x="5111640" y="2066400"/>
            <a:ext cx="932400" cy="502560"/>
          </a:xfrm>
          <a:prstGeom prst="rect">
            <a:avLst/>
          </a:prstGeom>
          <a:solidFill>
            <a:srgbClr val="ffffff"/>
          </a:solidFill>
          <a:ln w="12600">
            <a:solidFill>
              <a:srgbClr val="d5dce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 23"/>
          <p:cNvSpPr/>
          <p:nvPr/>
        </p:nvSpPr>
        <p:spPr>
          <a:xfrm>
            <a:off x="5139000" y="2176200"/>
            <a:ext cx="8773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20" strike="noStrike" u="none">
                <a:solidFill>
                  <a:srgbClr val="1f2933"/>
                </a:solidFill>
                <a:effectLst/>
                <a:uFillTx/>
                <a:latin typeface="Noto Sans CJK JP"/>
                <a:ea typeface="Noto Sans CJK JP"/>
              </a:rPr>
              <a:t>2.995</a:t>
            </a:r>
            <a:endParaRPr b="0" lang="en-US" sz="10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Shape 24"/>
          <p:cNvSpPr/>
          <p:nvPr/>
        </p:nvSpPr>
        <p:spPr>
          <a:xfrm>
            <a:off x="6044040" y="2066400"/>
            <a:ext cx="932400" cy="502560"/>
          </a:xfrm>
          <a:prstGeom prst="rect">
            <a:avLst/>
          </a:prstGeom>
          <a:solidFill>
            <a:srgbClr val="ffffff"/>
          </a:solidFill>
          <a:ln w="12600">
            <a:solidFill>
              <a:srgbClr val="d5dce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 25"/>
          <p:cNvSpPr/>
          <p:nvPr/>
        </p:nvSpPr>
        <p:spPr>
          <a:xfrm>
            <a:off x="6071760" y="2176200"/>
            <a:ext cx="8773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20" strike="noStrike" u="none">
                <a:solidFill>
                  <a:srgbClr val="1f2933"/>
                </a:solidFill>
                <a:effectLst/>
                <a:uFillTx/>
                <a:latin typeface="Noto Sans CJK JP"/>
                <a:ea typeface="Noto Sans CJK JP"/>
              </a:rPr>
              <a:t>3.283</a:t>
            </a:r>
            <a:endParaRPr b="0" lang="en-US" sz="10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Shape 26"/>
          <p:cNvSpPr/>
          <p:nvPr/>
        </p:nvSpPr>
        <p:spPr>
          <a:xfrm>
            <a:off x="6976800" y="2066400"/>
            <a:ext cx="1023840" cy="502560"/>
          </a:xfrm>
          <a:prstGeom prst="rect">
            <a:avLst/>
          </a:prstGeom>
          <a:solidFill>
            <a:srgbClr val="ffffff"/>
          </a:solidFill>
          <a:ln w="12600">
            <a:solidFill>
              <a:srgbClr val="d5dce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 27"/>
          <p:cNvSpPr/>
          <p:nvPr/>
        </p:nvSpPr>
        <p:spPr>
          <a:xfrm>
            <a:off x="7004160" y="2176200"/>
            <a:ext cx="9687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20" strike="noStrike" u="none">
                <a:solidFill>
                  <a:srgbClr val="1f2933"/>
                </a:solidFill>
                <a:effectLst/>
                <a:uFillTx/>
                <a:latin typeface="Noto Sans CJK JP"/>
                <a:ea typeface="Noto Sans CJK JP"/>
              </a:rPr>
              <a:t>3.139</a:t>
            </a:r>
            <a:endParaRPr b="0" lang="en-US" sz="10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Shape 28"/>
          <p:cNvSpPr/>
          <p:nvPr/>
        </p:nvSpPr>
        <p:spPr>
          <a:xfrm>
            <a:off x="658440" y="2569320"/>
            <a:ext cx="1005480" cy="502560"/>
          </a:xfrm>
          <a:prstGeom prst="rect">
            <a:avLst/>
          </a:prstGeom>
          <a:solidFill>
            <a:srgbClr val="ffffff"/>
          </a:solidFill>
          <a:ln w="12600">
            <a:solidFill>
              <a:srgbClr val="d5dce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 29"/>
          <p:cNvSpPr/>
          <p:nvPr/>
        </p:nvSpPr>
        <p:spPr>
          <a:xfrm>
            <a:off x="685800" y="2679120"/>
            <a:ext cx="9507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20" strike="noStrike" u="none">
                <a:solidFill>
                  <a:srgbClr val="1f2933"/>
                </a:solidFill>
                <a:effectLst/>
                <a:uFillTx/>
                <a:latin typeface="Noto Sans CJK JP"/>
                <a:ea typeface="Noto Sans CJK JP"/>
              </a:rPr>
              <a:t>T121</a:t>
            </a:r>
            <a:endParaRPr b="0" lang="en-US" sz="10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Shape 30"/>
          <p:cNvSpPr/>
          <p:nvPr/>
        </p:nvSpPr>
        <p:spPr>
          <a:xfrm>
            <a:off x="1664280" y="2569320"/>
            <a:ext cx="1416960" cy="502560"/>
          </a:xfrm>
          <a:prstGeom prst="rect">
            <a:avLst/>
          </a:prstGeom>
          <a:solidFill>
            <a:srgbClr val="ffffff"/>
          </a:solidFill>
          <a:ln w="12600">
            <a:solidFill>
              <a:srgbClr val="d5dce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 31"/>
          <p:cNvSpPr/>
          <p:nvPr/>
        </p:nvSpPr>
        <p:spPr>
          <a:xfrm>
            <a:off x="1691640" y="2679120"/>
            <a:ext cx="13622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20" strike="noStrike" u="none">
                <a:solidFill>
                  <a:srgbClr val="557a68"/>
                </a:solidFill>
                <a:effectLst/>
                <a:uFillTx/>
                <a:latin typeface="Noto Sans CJK JP"/>
                <a:ea typeface="Noto Sans CJK JP"/>
              </a:rPr>
              <a:t>AbLang2</a:t>
            </a:r>
            <a:endParaRPr b="0" lang="en-US" sz="10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Shape 32"/>
          <p:cNvSpPr/>
          <p:nvPr/>
        </p:nvSpPr>
        <p:spPr>
          <a:xfrm>
            <a:off x="3081600" y="2569320"/>
            <a:ext cx="2029680" cy="502560"/>
          </a:xfrm>
          <a:prstGeom prst="rect">
            <a:avLst/>
          </a:prstGeom>
          <a:solidFill>
            <a:srgbClr val="ffffff"/>
          </a:solidFill>
          <a:ln w="12600">
            <a:solidFill>
              <a:srgbClr val="d5dce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 33"/>
          <p:cNvSpPr/>
          <p:nvPr/>
        </p:nvSpPr>
        <p:spPr>
          <a:xfrm>
            <a:off x="3108960" y="2679120"/>
            <a:ext cx="19746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39" strike="noStrike" u="none">
                <a:solidFill>
                  <a:srgbClr val="1f2933"/>
                </a:solidFill>
                <a:effectLst/>
                <a:uFillTx/>
                <a:latin typeface="Noto Sans CJK JP"/>
                <a:ea typeface="Noto Sans CJK JP"/>
              </a:rPr>
              <a:t>ARCH-7 REG-only cross</a:t>
            </a:r>
            <a:endParaRPr b="0" lang="en-US" sz="93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Shape 34"/>
          <p:cNvSpPr/>
          <p:nvPr/>
        </p:nvSpPr>
        <p:spPr>
          <a:xfrm>
            <a:off x="5111640" y="2569320"/>
            <a:ext cx="932400" cy="502560"/>
          </a:xfrm>
          <a:prstGeom prst="rect">
            <a:avLst/>
          </a:prstGeom>
          <a:solidFill>
            <a:srgbClr val="ffffff"/>
          </a:solidFill>
          <a:ln w="12600">
            <a:solidFill>
              <a:srgbClr val="d5dce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 35"/>
          <p:cNvSpPr/>
          <p:nvPr/>
        </p:nvSpPr>
        <p:spPr>
          <a:xfrm>
            <a:off x="5139000" y="2679120"/>
            <a:ext cx="8773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20" strike="noStrike" u="none">
                <a:solidFill>
                  <a:srgbClr val="1f2933"/>
                </a:solidFill>
                <a:effectLst/>
                <a:uFillTx/>
                <a:latin typeface="Noto Sans CJK JP"/>
                <a:ea typeface="Noto Sans CJK JP"/>
              </a:rPr>
              <a:t>3.023</a:t>
            </a:r>
            <a:endParaRPr b="0" lang="en-US" sz="10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Shape 36"/>
          <p:cNvSpPr/>
          <p:nvPr/>
        </p:nvSpPr>
        <p:spPr>
          <a:xfrm>
            <a:off x="6044040" y="2569320"/>
            <a:ext cx="932400" cy="502560"/>
          </a:xfrm>
          <a:prstGeom prst="rect">
            <a:avLst/>
          </a:prstGeom>
          <a:solidFill>
            <a:srgbClr val="ffffff"/>
          </a:solidFill>
          <a:ln w="12600">
            <a:solidFill>
              <a:srgbClr val="d5dce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 37"/>
          <p:cNvSpPr/>
          <p:nvPr/>
        </p:nvSpPr>
        <p:spPr>
          <a:xfrm>
            <a:off x="6071760" y="2679120"/>
            <a:ext cx="8773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20" strike="noStrike" u="none">
                <a:solidFill>
                  <a:srgbClr val="1f2933"/>
                </a:solidFill>
                <a:effectLst/>
                <a:uFillTx/>
                <a:latin typeface="Noto Sans CJK JP"/>
                <a:ea typeface="Noto Sans CJK JP"/>
              </a:rPr>
              <a:t>3.252</a:t>
            </a:r>
            <a:endParaRPr b="0" lang="en-US" sz="10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Shape 38"/>
          <p:cNvSpPr/>
          <p:nvPr/>
        </p:nvSpPr>
        <p:spPr>
          <a:xfrm>
            <a:off x="6976800" y="2569320"/>
            <a:ext cx="1023840" cy="502560"/>
          </a:xfrm>
          <a:prstGeom prst="rect">
            <a:avLst/>
          </a:prstGeom>
          <a:solidFill>
            <a:srgbClr val="ffffff"/>
          </a:solidFill>
          <a:ln w="12600">
            <a:solidFill>
              <a:srgbClr val="d5dce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 39"/>
          <p:cNvSpPr/>
          <p:nvPr/>
        </p:nvSpPr>
        <p:spPr>
          <a:xfrm>
            <a:off x="7004160" y="2679120"/>
            <a:ext cx="9687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20" strike="noStrike" u="none">
                <a:solidFill>
                  <a:srgbClr val="1f2933"/>
                </a:solidFill>
                <a:effectLst/>
                <a:uFillTx/>
                <a:latin typeface="Noto Sans CJK JP"/>
                <a:ea typeface="Noto Sans CJK JP"/>
              </a:rPr>
              <a:t>3.138</a:t>
            </a:r>
            <a:endParaRPr b="0" lang="en-US" sz="10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Shape 40"/>
          <p:cNvSpPr/>
          <p:nvPr/>
        </p:nvSpPr>
        <p:spPr>
          <a:xfrm>
            <a:off x="658440" y="3072240"/>
            <a:ext cx="1005480" cy="502560"/>
          </a:xfrm>
          <a:prstGeom prst="rect">
            <a:avLst/>
          </a:prstGeom>
          <a:solidFill>
            <a:srgbClr val="f0f4f7"/>
          </a:solidFill>
          <a:ln w="12600">
            <a:solidFill>
              <a:srgbClr val="d5dce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 41"/>
          <p:cNvSpPr/>
          <p:nvPr/>
        </p:nvSpPr>
        <p:spPr>
          <a:xfrm>
            <a:off x="685800" y="3182040"/>
            <a:ext cx="9507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20" strike="noStrike" u="none">
                <a:solidFill>
                  <a:srgbClr val="1f2933"/>
                </a:solidFill>
                <a:effectLst/>
                <a:uFillTx/>
                <a:latin typeface="Noto Sans CJK JP"/>
                <a:ea typeface="Noto Sans CJK JP"/>
              </a:rPr>
              <a:t>T096</a:t>
            </a:r>
            <a:endParaRPr b="0" lang="en-US" sz="10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Shape 42"/>
          <p:cNvSpPr/>
          <p:nvPr/>
        </p:nvSpPr>
        <p:spPr>
          <a:xfrm>
            <a:off x="1664280" y="3072240"/>
            <a:ext cx="1416960" cy="502560"/>
          </a:xfrm>
          <a:prstGeom prst="rect">
            <a:avLst/>
          </a:prstGeom>
          <a:solidFill>
            <a:srgbClr val="f0f4f7"/>
          </a:solidFill>
          <a:ln w="12600">
            <a:solidFill>
              <a:srgbClr val="d5dce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 43"/>
          <p:cNvSpPr/>
          <p:nvPr/>
        </p:nvSpPr>
        <p:spPr>
          <a:xfrm>
            <a:off x="1691640" y="3182040"/>
            <a:ext cx="13622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20" strike="noStrike" u="none">
                <a:solidFill>
                  <a:srgbClr val="6e879b"/>
                </a:solidFill>
                <a:effectLst/>
                <a:uFillTx/>
                <a:latin typeface="Noto Sans CJK JP"/>
                <a:ea typeface="Noto Sans CJK JP"/>
              </a:rPr>
              <a:t>Scratch</a:t>
            </a:r>
            <a:endParaRPr b="0" lang="en-US" sz="10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Shape 44"/>
          <p:cNvSpPr/>
          <p:nvPr/>
        </p:nvSpPr>
        <p:spPr>
          <a:xfrm>
            <a:off x="3081600" y="3072240"/>
            <a:ext cx="2029680" cy="502560"/>
          </a:xfrm>
          <a:prstGeom prst="rect">
            <a:avLst/>
          </a:prstGeom>
          <a:solidFill>
            <a:srgbClr val="f0f4f7"/>
          </a:solidFill>
          <a:ln w="12600">
            <a:solidFill>
              <a:srgbClr val="d5dce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 45"/>
          <p:cNvSpPr/>
          <p:nvPr/>
        </p:nvSpPr>
        <p:spPr>
          <a:xfrm>
            <a:off x="3108960" y="3182040"/>
            <a:ext cx="19746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39" strike="noStrike" u="none">
                <a:solidFill>
                  <a:srgbClr val="1f2933"/>
                </a:solidFill>
                <a:effectLst/>
                <a:uFillTx/>
                <a:latin typeface="Noto Sans CJK JP"/>
                <a:ea typeface="Noto Sans CJK JP"/>
              </a:rPr>
              <a:t>ARCH-4 chain-specific</a:t>
            </a:r>
            <a:endParaRPr b="0" lang="en-US" sz="93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Shape 46"/>
          <p:cNvSpPr/>
          <p:nvPr/>
        </p:nvSpPr>
        <p:spPr>
          <a:xfrm>
            <a:off x="5111640" y="3072240"/>
            <a:ext cx="932400" cy="502560"/>
          </a:xfrm>
          <a:prstGeom prst="rect">
            <a:avLst/>
          </a:prstGeom>
          <a:solidFill>
            <a:srgbClr val="f0f4f7"/>
          </a:solidFill>
          <a:ln w="12600">
            <a:solidFill>
              <a:srgbClr val="d5dce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 47"/>
          <p:cNvSpPr/>
          <p:nvPr/>
        </p:nvSpPr>
        <p:spPr>
          <a:xfrm>
            <a:off x="5139000" y="3182040"/>
            <a:ext cx="8773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20" strike="noStrike" u="none">
                <a:solidFill>
                  <a:srgbClr val="1f2933"/>
                </a:solidFill>
                <a:effectLst/>
                <a:uFillTx/>
                <a:latin typeface="Noto Sans CJK JP"/>
                <a:ea typeface="Noto Sans CJK JP"/>
              </a:rPr>
              <a:t>3.252</a:t>
            </a:r>
            <a:endParaRPr b="0" lang="en-US" sz="10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Shape 48"/>
          <p:cNvSpPr/>
          <p:nvPr/>
        </p:nvSpPr>
        <p:spPr>
          <a:xfrm>
            <a:off x="6044040" y="3072240"/>
            <a:ext cx="932400" cy="502560"/>
          </a:xfrm>
          <a:prstGeom prst="rect">
            <a:avLst/>
          </a:prstGeom>
          <a:solidFill>
            <a:srgbClr val="f0f4f7"/>
          </a:solidFill>
          <a:ln w="12600">
            <a:solidFill>
              <a:srgbClr val="d5dce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 49"/>
          <p:cNvSpPr/>
          <p:nvPr/>
        </p:nvSpPr>
        <p:spPr>
          <a:xfrm>
            <a:off x="6071760" y="3182040"/>
            <a:ext cx="8773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20" strike="noStrike" u="none">
                <a:solidFill>
                  <a:srgbClr val="1f2933"/>
                </a:solidFill>
                <a:effectLst/>
                <a:uFillTx/>
                <a:latin typeface="Noto Sans CJK JP"/>
                <a:ea typeface="Noto Sans CJK JP"/>
              </a:rPr>
              <a:t>3.264</a:t>
            </a:r>
            <a:endParaRPr b="0" lang="en-US" sz="10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Shape 50"/>
          <p:cNvSpPr/>
          <p:nvPr/>
        </p:nvSpPr>
        <p:spPr>
          <a:xfrm>
            <a:off x="6976800" y="3072240"/>
            <a:ext cx="1023840" cy="502560"/>
          </a:xfrm>
          <a:prstGeom prst="rect">
            <a:avLst/>
          </a:prstGeom>
          <a:solidFill>
            <a:srgbClr val="f0f4f7"/>
          </a:solidFill>
          <a:ln w="12600">
            <a:solidFill>
              <a:srgbClr val="d5dce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 51"/>
          <p:cNvSpPr/>
          <p:nvPr/>
        </p:nvSpPr>
        <p:spPr>
          <a:xfrm>
            <a:off x="7004160" y="3182040"/>
            <a:ext cx="9687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20" strike="noStrike" u="none">
                <a:solidFill>
                  <a:srgbClr val="1f2933"/>
                </a:solidFill>
                <a:effectLst/>
                <a:uFillTx/>
                <a:latin typeface="Noto Sans CJK JP"/>
                <a:ea typeface="Noto Sans CJK JP"/>
              </a:rPr>
              <a:t>3.258</a:t>
            </a:r>
            <a:endParaRPr b="0" lang="en-US" sz="10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 52"/>
          <p:cNvSpPr/>
          <p:nvPr/>
        </p:nvSpPr>
        <p:spPr>
          <a:xfrm>
            <a:off x="777240" y="3721680"/>
            <a:ext cx="525744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70" strike="noStrike" u="none">
                <a:solidFill>
                  <a:srgbClr val="5e6b75"/>
                </a:solidFill>
                <a:effectLst/>
                <a:uFillTx/>
                <a:latin typeface="Noto Sans CJK JP"/>
                <a:ea typeface="Noto Sans CJK JP"/>
              </a:rPr>
              <a:t>Scratch</a:t>
            </a:r>
            <a:r>
              <a:rPr b="0" lang="zh-CN" sz="1070" strike="noStrike" u="none">
                <a:solidFill>
                  <a:srgbClr val="5e6b75"/>
                </a:solidFill>
                <a:effectLst/>
                <a:uFillTx/>
                <a:latin typeface="Noto Sans CJK JP"/>
                <a:ea typeface="Noto Sans CJK JP"/>
              </a:rPr>
              <a:t>最良帯は内部</a:t>
            </a:r>
            <a:r>
              <a:rPr b="0" lang="en-US" sz="1070" strike="noStrike" u="none">
                <a:solidFill>
                  <a:srgbClr val="5e6b75"/>
                </a:solidFill>
                <a:effectLst/>
                <a:uFillTx/>
                <a:latin typeface="Noto Sans CJK JP"/>
                <a:ea typeface="Noto Sans CJK JP"/>
              </a:rPr>
              <a:t>MAE</a:t>
            </a:r>
            <a:r>
              <a:rPr b="0" lang="zh-CN" sz="1070" strike="noStrike" u="none">
                <a:solidFill>
                  <a:srgbClr val="5e6b75"/>
                </a:solidFill>
                <a:effectLst/>
                <a:uFillTx/>
                <a:latin typeface="Noto Sans CJK JP"/>
                <a:ea typeface="Noto Sans CJK JP"/>
              </a:rPr>
              <a:t>で</a:t>
            </a:r>
            <a:r>
              <a:rPr b="0" lang="en-US" sz="1070" strike="noStrike" u="none">
                <a:solidFill>
                  <a:srgbClr val="5e6b75"/>
                </a:solidFill>
                <a:effectLst/>
                <a:uFillTx/>
                <a:latin typeface="Noto Sans CJK JP"/>
                <a:ea typeface="Noto Sans CJK JP"/>
              </a:rPr>
              <a:t>PLM</a:t>
            </a:r>
            <a:r>
              <a:rPr b="0" lang="zh-CN" sz="1070" strike="noStrike" u="none">
                <a:solidFill>
                  <a:srgbClr val="5e6b75"/>
                </a:solidFill>
                <a:effectLst/>
                <a:uFillTx/>
                <a:latin typeface="Noto Sans CJK JP"/>
                <a:ea typeface="Noto Sans CJK JP"/>
              </a:rPr>
              <a:t>最良帯から約</a:t>
            </a:r>
            <a:r>
              <a:rPr b="0" lang="en-US" sz="1070" strike="noStrike" u="none">
                <a:solidFill>
                  <a:srgbClr val="5e6b75"/>
                </a:solidFill>
                <a:effectLst/>
                <a:uFillTx/>
                <a:latin typeface="Noto Sans CJK JP"/>
                <a:ea typeface="Noto Sans CJK JP"/>
              </a:rPr>
              <a:t>0.12</a:t>
            </a:r>
            <a:r>
              <a:rPr b="0" lang="zh-CN" sz="1070" strike="noStrike" u="none">
                <a:solidFill>
                  <a:srgbClr val="5e6b75"/>
                </a:solidFill>
                <a:effectLst/>
                <a:uFillTx/>
                <a:latin typeface="Noto Sans CJK JP"/>
                <a:ea typeface="Noto Sans CJK JP"/>
              </a:rPr>
              <a:t>差。</a:t>
            </a:r>
            <a:endParaRPr b="0" lang="en-US" sz="10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1070" strike="noStrike" u="none">
                <a:solidFill>
                  <a:srgbClr val="5e6b75"/>
                </a:solidFill>
                <a:effectLst/>
                <a:uFillTx/>
                <a:latin typeface="Noto Sans CJK JP"/>
                <a:ea typeface="Noto Sans CJK JP"/>
              </a:rPr>
              <a:t>一方 </a:t>
            </a:r>
            <a:r>
              <a:rPr b="0" lang="en-US" sz="1070" strike="noStrike" u="none">
                <a:solidFill>
                  <a:srgbClr val="5e6b75"/>
                </a:solidFill>
                <a:effectLst/>
                <a:uFillTx/>
                <a:latin typeface="Noto Sans CJK JP"/>
                <a:ea typeface="Noto Sans CJK JP"/>
              </a:rPr>
              <a:t>external </a:t>
            </a:r>
            <a:r>
              <a:rPr b="0" lang="zh-CN" sz="1070" strike="noStrike" u="none">
                <a:solidFill>
                  <a:srgbClr val="5e6b75"/>
                </a:solidFill>
                <a:effectLst/>
                <a:uFillTx/>
                <a:latin typeface="Noto Sans CJK JP"/>
                <a:ea typeface="Noto Sans CJK JP"/>
              </a:rPr>
              <a:t>では</a:t>
            </a:r>
            <a:r>
              <a:rPr b="0" lang="en-US" sz="1070" strike="noStrike" u="none">
                <a:solidFill>
                  <a:srgbClr val="5e6b75"/>
                </a:solidFill>
                <a:effectLst/>
                <a:uFillTx/>
                <a:latin typeface="Noto Sans CJK JP"/>
                <a:ea typeface="Noto Sans CJK JP"/>
              </a:rPr>
              <a:t>PLM</a:t>
            </a:r>
            <a:r>
              <a:rPr b="0" lang="zh-CN" sz="1070" strike="noStrike" u="none">
                <a:solidFill>
                  <a:srgbClr val="5e6b75"/>
                </a:solidFill>
                <a:effectLst/>
                <a:uFillTx/>
                <a:latin typeface="Noto Sans CJK JP"/>
                <a:ea typeface="Noto Sans CJK JP"/>
              </a:rPr>
              <a:t>優位が明確で、「</a:t>
            </a:r>
            <a:r>
              <a:rPr b="0" lang="en-US" sz="1070" strike="noStrike" u="none">
                <a:solidFill>
                  <a:srgbClr val="5e6b75"/>
                </a:solidFill>
                <a:effectLst/>
                <a:uFillTx/>
                <a:latin typeface="Noto Sans CJK JP"/>
                <a:ea typeface="Noto Sans CJK JP"/>
              </a:rPr>
              <a:t>PLM</a:t>
            </a:r>
            <a:r>
              <a:rPr b="0" lang="zh-CN" sz="1070" strike="noStrike" u="none">
                <a:solidFill>
                  <a:srgbClr val="5e6b75"/>
                </a:solidFill>
                <a:effectLst/>
                <a:uFillTx/>
                <a:latin typeface="Noto Sans CJK JP"/>
                <a:ea typeface="Noto Sans CJK JP"/>
              </a:rPr>
              <a:t>不要」とは言わない。</a:t>
            </a:r>
            <a:endParaRPr b="0" lang="en-US" sz="10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Shape 53"/>
          <p:cNvSpPr/>
          <p:nvPr/>
        </p:nvSpPr>
        <p:spPr>
          <a:xfrm>
            <a:off x="6400800" y="1243440"/>
            <a:ext cx="694440" cy="310680"/>
          </a:xfrm>
          <a:prstGeom prst="roundRect">
            <a:avLst>
              <a:gd name="adj" fmla="val 23529"/>
            </a:avLst>
          </a:prstGeom>
          <a:solidFill>
            <a:srgbClr val="4f7f78"/>
          </a:solidFill>
          <a:ln w="12600">
            <a:solidFill>
              <a:srgbClr val="4f7f7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 54"/>
          <p:cNvSpPr/>
          <p:nvPr/>
        </p:nvSpPr>
        <p:spPr>
          <a:xfrm>
            <a:off x="6428160" y="1284840"/>
            <a:ext cx="639720" cy="20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30" strike="noStrike" u="none">
                <a:solidFill>
                  <a:srgbClr val="ffffff"/>
                </a:solidFill>
                <a:effectLst/>
                <a:uFillTx/>
                <a:latin typeface="Noto Sans CJK JP"/>
                <a:ea typeface="Noto Sans CJK JP"/>
              </a:rPr>
              <a:t>HIC</a:t>
            </a:r>
            <a:endParaRPr b="0" lang="en-US" sz="9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Shape 55"/>
          <p:cNvSpPr/>
          <p:nvPr/>
        </p:nvSpPr>
        <p:spPr>
          <a:xfrm>
            <a:off x="6400800" y="1664280"/>
            <a:ext cx="840960" cy="402120"/>
          </a:xfrm>
          <a:prstGeom prst="rect">
            <a:avLst/>
          </a:prstGeom>
          <a:solidFill>
            <a:srgbClr val="dce9e5"/>
          </a:solidFill>
          <a:ln w="12600">
            <a:solidFill>
              <a:srgbClr val="c9d9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 56"/>
          <p:cNvSpPr/>
          <p:nvPr/>
        </p:nvSpPr>
        <p:spPr>
          <a:xfrm>
            <a:off x="6428160" y="1774080"/>
            <a:ext cx="78588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243746"/>
                </a:solidFill>
                <a:effectLst/>
                <a:uFillTx/>
                <a:latin typeface="Noto Sans CJK JP"/>
                <a:ea typeface="Noto Sans CJK JP"/>
              </a:rPr>
              <a:t>EXP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Shape 57"/>
          <p:cNvSpPr/>
          <p:nvPr/>
        </p:nvSpPr>
        <p:spPr>
          <a:xfrm>
            <a:off x="7242120" y="1664280"/>
            <a:ext cx="1170000" cy="402120"/>
          </a:xfrm>
          <a:prstGeom prst="rect">
            <a:avLst/>
          </a:prstGeom>
          <a:solidFill>
            <a:srgbClr val="dce9e5"/>
          </a:solidFill>
          <a:ln w="12600">
            <a:solidFill>
              <a:srgbClr val="c9d9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 58"/>
          <p:cNvSpPr/>
          <p:nvPr/>
        </p:nvSpPr>
        <p:spPr>
          <a:xfrm>
            <a:off x="7269480" y="1774080"/>
            <a:ext cx="111528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243746"/>
                </a:solidFill>
                <a:effectLst/>
                <a:uFillTx/>
                <a:latin typeface="Noto Sans CJK JP"/>
                <a:ea typeface="Noto Sans CJK JP"/>
              </a:rPr>
              <a:t>Residue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Shape 59"/>
          <p:cNvSpPr/>
          <p:nvPr/>
        </p:nvSpPr>
        <p:spPr>
          <a:xfrm>
            <a:off x="8412480" y="1664280"/>
            <a:ext cx="1718640" cy="402120"/>
          </a:xfrm>
          <a:prstGeom prst="rect">
            <a:avLst/>
          </a:prstGeom>
          <a:solidFill>
            <a:srgbClr val="dce9e5"/>
          </a:solidFill>
          <a:ln w="12600">
            <a:solidFill>
              <a:srgbClr val="c9d9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 60"/>
          <p:cNvSpPr/>
          <p:nvPr/>
        </p:nvSpPr>
        <p:spPr>
          <a:xfrm>
            <a:off x="8439840" y="1774080"/>
            <a:ext cx="16639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950" strike="noStrike" u="none">
                <a:solidFill>
                  <a:srgbClr val="243746"/>
                </a:solidFill>
                <a:effectLst/>
                <a:uFillTx/>
                <a:latin typeface="Noto Sans CJK JP"/>
                <a:ea typeface="Noto Sans CJK JP"/>
              </a:rPr>
              <a:t>構成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Shape 61"/>
          <p:cNvSpPr/>
          <p:nvPr/>
        </p:nvSpPr>
        <p:spPr>
          <a:xfrm>
            <a:off x="10131480" y="1664280"/>
            <a:ext cx="1005480" cy="402120"/>
          </a:xfrm>
          <a:prstGeom prst="rect">
            <a:avLst/>
          </a:prstGeom>
          <a:solidFill>
            <a:srgbClr val="dce9e5"/>
          </a:solidFill>
          <a:ln w="12600">
            <a:solidFill>
              <a:srgbClr val="c9d9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 62"/>
          <p:cNvSpPr/>
          <p:nvPr/>
        </p:nvSpPr>
        <p:spPr>
          <a:xfrm>
            <a:off x="10158840" y="1774080"/>
            <a:ext cx="9507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243746"/>
                </a:solidFill>
                <a:effectLst/>
                <a:uFillTx/>
                <a:latin typeface="Noto Sans CJK JP"/>
                <a:ea typeface="Noto Sans CJK JP"/>
              </a:rPr>
              <a:t>OOF mean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Shape 63"/>
          <p:cNvSpPr/>
          <p:nvPr/>
        </p:nvSpPr>
        <p:spPr>
          <a:xfrm>
            <a:off x="11137320" y="1664280"/>
            <a:ext cx="1005480" cy="402120"/>
          </a:xfrm>
          <a:prstGeom prst="rect">
            <a:avLst/>
          </a:prstGeom>
          <a:solidFill>
            <a:srgbClr val="dce9e5"/>
          </a:solidFill>
          <a:ln w="12600">
            <a:solidFill>
              <a:srgbClr val="c9d9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 64"/>
          <p:cNvSpPr/>
          <p:nvPr/>
        </p:nvSpPr>
        <p:spPr>
          <a:xfrm>
            <a:off x="11164680" y="1774080"/>
            <a:ext cx="9507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243746"/>
                </a:solidFill>
                <a:effectLst/>
                <a:uFillTx/>
                <a:latin typeface="Noto Sans CJK JP"/>
                <a:ea typeface="Noto Sans CJK JP"/>
              </a:rPr>
              <a:t>Overall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Shape 65"/>
          <p:cNvSpPr/>
          <p:nvPr/>
        </p:nvSpPr>
        <p:spPr>
          <a:xfrm>
            <a:off x="6400800" y="2066400"/>
            <a:ext cx="840960" cy="502560"/>
          </a:xfrm>
          <a:prstGeom prst="rect">
            <a:avLst/>
          </a:prstGeom>
          <a:solidFill>
            <a:srgbClr val="ffffff"/>
          </a:solidFill>
          <a:ln w="12600">
            <a:solidFill>
              <a:srgbClr val="d5dce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 66"/>
          <p:cNvSpPr/>
          <p:nvPr/>
        </p:nvSpPr>
        <p:spPr>
          <a:xfrm>
            <a:off x="6428160" y="2176200"/>
            <a:ext cx="7858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20" strike="noStrike" u="none">
                <a:solidFill>
                  <a:srgbClr val="1f2933"/>
                </a:solidFill>
                <a:effectLst/>
                <a:uFillTx/>
                <a:latin typeface="Noto Sans CJK JP"/>
                <a:ea typeface="Noto Sans CJK JP"/>
              </a:rPr>
              <a:t>H086</a:t>
            </a:r>
            <a:endParaRPr b="0" lang="en-US" sz="10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Shape 67"/>
          <p:cNvSpPr/>
          <p:nvPr/>
        </p:nvSpPr>
        <p:spPr>
          <a:xfrm>
            <a:off x="7242120" y="2066400"/>
            <a:ext cx="1170000" cy="502560"/>
          </a:xfrm>
          <a:prstGeom prst="rect">
            <a:avLst/>
          </a:prstGeom>
          <a:solidFill>
            <a:srgbClr val="ffffff"/>
          </a:solidFill>
          <a:ln w="12600">
            <a:solidFill>
              <a:srgbClr val="d5dce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 68"/>
          <p:cNvSpPr/>
          <p:nvPr/>
        </p:nvSpPr>
        <p:spPr>
          <a:xfrm>
            <a:off x="7269480" y="2176200"/>
            <a:ext cx="11152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20" strike="noStrike" u="none">
                <a:solidFill>
                  <a:srgbClr val="557a68"/>
                </a:solidFill>
                <a:effectLst/>
                <a:uFillTx/>
                <a:latin typeface="Noto Sans CJK JP"/>
                <a:ea typeface="Noto Sans CJK JP"/>
              </a:rPr>
              <a:t>ESM-2</a:t>
            </a:r>
            <a:endParaRPr b="0" lang="en-US" sz="10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Shape 69"/>
          <p:cNvSpPr/>
          <p:nvPr/>
        </p:nvSpPr>
        <p:spPr>
          <a:xfrm>
            <a:off x="8412480" y="2066400"/>
            <a:ext cx="1718640" cy="502560"/>
          </a:xfrm>
          <a:prstGeom prst="rect">
            <a:avLst/>
          </a:prstGeom>
          <a:solidFill>
            <a:srgbClr val="ffffff"/>
          </a:solidFill>
          <a:ln w="12600">
            <a:solidFill>
              <a:srgbClr val="d5dce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 70"/>
          <p:cNvSpPr/>
          <p:nvPr/>
        </p:nvSpPr>
        <p:spPr>
          <a:xfrm>
            <a:off x="8439840" y="2176200"/>
            <a:ext cx="16639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30" strike="noStrike" u="none">
                <a:solidFill>
                  <a:srgbClr val="1f2933"/>
                </a:solidFill>
                <a:effectLst/>
                <a:uFillTx/>
                <a:latin typeface="Noto Sans CJK JP"/>
                <a:ea typeface="Noto Sans CJK JP"/>
              </a:rPr>
              <a:t>ARCH-4 + SURFACE</a:t>
            </a:r>
            <a:endParaRPr b="0" lang="en-US" sz="9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Shape 71"/>
          <p:cNvSpPr/>
          <p:nvPr/>
        </p:nvSpPr>
        <p:spPr>
          <a:xfrm>
            <a:off x="10131480" y="2066400"/>
            <a:ext cx="1005480" cy="502560"/>
          </a:xfrm>
          <a:prstGeom prst="rect">
            <a:avLst/>
          </a:prstGeom>
          <a:solidFill>
            <a:srgbClr val="ffffff"/>
          </a:solidFill>
          <a:ln w="12600">
            <a:solidFill>
              <a:srgbClr val="d5dce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 72"/>
          <p:cNvSpPr/>
          <p:nvPr/>
        </p:nvSpPr>
        <p:spPr>
          <a:xfrm>
            <a:off x="10158840" y="2176200"/>
            <a:ext cx="9507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20" strike="noStrike" u="none">
                <a:solidFill>
                  <a:srgbClr val="1f2933"/>
                </a:solidFill>
                <a:effectLst/>
                <a:uFillTx/>
                <a:latin typeface="Noto Sans CJK JP"/>
                <a:ea typeface="Noto Sans CJK JP"/>
              </a:rPr>
              <a:t>0.486</a:t>
            </a:r>
            <a:endParaRPr b="0" lang="en-US" sz="10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Shape 73"/>
          <p:cNvSpPr/>
          <p:nvPr/>
        </p:nvSpPr>
        <p:spPr>
          <a:xfrm>
            <a:off x="11137320" y="2066400"/>
            <a:ext cx="1005480" cy="502560"/>
          </a:xfrm>
          <a:prstGeom prst="rect">
            <a:avLst/>
          </a:prstGeom>
          <a:solidFill>
            <a:srgbClr val="ffffff"/>
          </a:solidFill>
          <a:ln w="12600">
            <a:solidFill>
              <a:srgbClr val="d5dce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 74"/>
          <p:cNvSpPr/>
          <p:nvPr/>
        </p:nvSpPr>
        <p:spPr>
          <a:xfrm>
            <a:off x="11164680" y="2176200"/>
            <a:ext cx="9507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20" strike="noStrike" u="none">
                <a:solidFill>
                  <a:srgbClr val="1f2933"/>
                </a:solidFill>
                <a:effectLst/>
                <a:uFillTx/>
                <a:latin typeface="Noto Sans CJK JP"/>
                <a:ea typeface="Noto Sans CJK JP"/>
              </a:rPr>
              <a:t>0.406</a:t>
            </a:r>
            <a:endParaRPr b="0" lang="en-US" sz="10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Shape 75"/>
          <p:cNvSpPr/>
          <p:nvPr/>
        </p:nvSpPr>
        <p:spPr>
          <a:xfrm>
            <a:off x="6400800" y="2569320"/>
            <a:ext cx="840960" cy="502560"/>
          </a:xfrm>
          <a:prstGeom prst="rect">
            <a:avLst/>
          </a:prstGeom>
          <a:solidFill>
            <a:srgbClr val="f0f4f7"/>
          </a:solidFill>
          <a:ln w="12600">
            <a:solidFill>
              <a:srgbClr val="d5dce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 76"/>
          <p:cNvSpPr/>
          <p:nvPr/>
        </p:nvSpPr>
        <p:spPr>
          <a:xfrm>
            <a:off x="6428160" y="2679120"/>
            <a:ext cx="7858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20" strike="noStrike" u="none">
                <a:solidFill>
                  <a:srgbClr val="1f2933"/>
                </a:solidFill>
                <a:effectLst/>
                <a:uFillTx/>
                <a:latin typeface="Noto Sans CJK JP"/>
                <a:ea typeface="Noto Sans CJK JP"/>
              </a:rPr>
              <a:t>H090</a:t>
            </a:r>
            <a:endParaRPr b="0" lang="en-US" sz="10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Shape 77"/>
          <p:cNvSpPr/>
          <p:nvPr/>
        </p:nvSpPr>
        <p:spPr>
          <a:xfrm>
            <a:off x="7242120" y="2569320"/>
            <a:ext cx="1170000" cy="502560"/>
          </a:xfrm>
          <a:prstGeom prst="rect">
            <a:avLst/>
          </a:prstGeom>
          <a:solidFill>
            <a:srgbClr val="f0f4f7"/>
          </a:solidFill>
          <a:ln w="12600">
            <a:solidFill>
              <a:srgbClr val="d5dce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 78"/>
          <p:cNvSpPr/>
          <p:nvPr/>
        </p:nvSpPr>
        <p:spPr>
          <a:xfrm>
            <a:off x="7269480" y="2679120"/>
            <a:ext cx="11152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20" strike="noStrike" u="none">
                <a:solidFill>
                  <a:srgbClr val="6e879b"/>
                </a:solidFill>
                <a:effectLst/>
                <a:uFillTx/>
                <a:latin typeface="Noto Sans CJK JP"/>
                <a:ea typeface="Noto Sans CJK JP"/>
              </a:rPr>
              <a:t>Scratch</a:t>
            </a:r>
            <a:endParaRPr b="0" lang="en-US" sz="10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Shape 79"/>
          <p:cNvSpPr/>
          <p:nvPr/>
        </p:nvSpPr>
        <p:spPr>
          <a:xfrm>
            <a:off x="8412480" y="2569320"/>
            <a:ext cx="1718640" cy="502560"/>
          </a:xfrm>
          <a:prstGeom prst="rect">
            <a:avLst/>
          </a:prstGeom>
          <a:solidFill>
            <a:srgbClr val="f0f4f7"/>
          </a:solidFill>
          <a:ln w="12600">
            <a:solidFill>
              <a:srgbClr val="d5dce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 80"/>
          <p:cNvSpPr/>
          <p:nvPr/>
        </p:nvSpPr>
        <p:spPr>
          <a:xfrm>
            <a:off x="8439840" y="2679120"/>
            <a:ext cx="16639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30" strike="noStrike" u="none">
                <a:solidFill>
                  <a:srgbClr val="1f2933"/>
                </a:solidFill>
                <a:effectLst/>
                <a:uFillTx/>
                <a:latin typeface="Noto Sans CJK JP"/>
                <a:ea typeface="Noto Sans CJK JP"/>
              </a:rPr>
              <a:t>single REG + SURFACE</a:t>
            </a:r>
            <a:endParaRPr b="0" lang="en-US" sz="9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Shape 81"/>
          <p:cNvSpPr/>
          <p:nvPr/>
        </p:nvSpPr>
        <p:spPr>
          <a:xfrm>
            <a:off x="10131480" y="2569320"/>
            <a:ext cx="1005480" cy="502560"/>
          </a:xfrm>
          <a:prstGeom prst="rect">
            <a:avLst/>
          </a:prstGeom>
          <a:solidFill>
            <a:srgbClr val="f0f4f7"/>
          </a:solidFill>
          <a:ln w="12600">
            <a:solidFill>
              <a:srgbClr val="d5dce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 82"/>
          <p:cNvSpPr/>
          <p:nvPr/>
        </p:nvSpPr>
        <p:spPr>
          <a:xfrm>
            <a:off x="10158840" y="2679120"/>
            <a:ext cx="9507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20" strike="noStrike" u="none">
                <a:solidFill>
                  <a:srgbClr val="1f2933"/>
                </a:solidFill>
                <a:effectLst/>
                <a:uFillTx/>
                <a:latin typeface="Noto Sans CJK JP"/>
                <a:ea typeface="Noto Sans CJK JP"/>
              </a:rPr>
              <a:t>0.472</a:t>
            </a:r>
            <a:endParaRPr b="0" lang="en-US" sz="10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Shape 83"/>
          <p:cNvSpPr/>
          <p:nvPr/>
        </p:nvSpPr>
        <p:spPr>
          <a:xfrm>
            <a:off x="11137320" y="2569320"/>
            <a:ext cx="1005480" cy="502560"/>
          </a:xfrm>
          <a:prstGeom prst="rect">
            <a:avLst/>
          </a:prstGeom>
          <a:solidFill>
            <a:srgbClr val="f0f4f7"/>
          </a:solidFill>
          <a:ln w="12600">
            <a:solidFill>
              <a:srgbClr val="d5dce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 84"/>
          <p:cNvSpPr/>
          <p:nvPr/>
        </p:nvSpPr>
        <p:spPr>
          <a:xfrm>
            <a:off x="11164680" y="2679120"/>
            <a:ext cx="9507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20" strike="noStrike" u="none">
                <a:solidFill>
                  <a:srgbClr val="1f2933"/>
                </a:solidFill>
                <a:effectLst/>
                <a:uFillTx/>
                <a:latin typeface="Noto Sans CJK JP"/>
                <a:ea typeface="Noto Sans CJK JP"/>
              </a:rPr>
              <a:t>0.409</a:t>
            </a:r>
            <a:endParaRPr b="0" lang="en-US" sz="10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Shape 85"/>
          <p:cNvSpPr/>
          <p:nvPr/>
        </p:nvSpPr>
        <p:spPr>
          <a:xfrm>
            <a:off x="6400800" y="3072240"/>
            <a:ext cx="840960" cy="502560"/>
          </a:xfrm>
          <a:prstGeom prst="rect">
            <a:avLst/>
          </a:prstGeom>
          <a:solidFill>
            <a:srgbClr val="ffffff"/>
          </a:solidFill>
          <a:ln w="12600">
            <a:solidFill>
              <a:srgbClr val="d5dce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 86"/>
          <p:cNvSpPr/>
          <p:nvPr/>
        </p:nvSpPr>
        <p:spPr>
          <a:xfrm>
            <a:off x="6428160" y="3182040"/>
            <a:ext cx="7858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20" strike="noStrike" u="none">
                <a:solidFill>
                  <a:srgbClr val="1f2933"/>
                </a:solidFill>
                <a:effectLst/>
                <a:uFillTx/>
                <a:latin typeface="Noto Sans CJK JP"/>
                <a:ea typeface="Noto Sans CJK JP"/>
              </a:rPr>
              <a:t>H089</a:t>
            </a:r>
            <a:endParaRPr b="0" lang="en-US" sz="10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Shape 87"/>
          <p:cNvSpPr/>
          <p:nvPr/>
        </p:nvSpPr>
        <p:spPr>
          <a:xfrm>
            <a:off x="7242120" y="3072240"/>
            <a:ext cx="1170000" cy="502560"/>
          </a:xfrm>
          <a:prstGeom prst="rect">
            <a:avLst/>
          </a:prstGeom>
          <a:solidFill>
            <a:srgbClr val="ffffff"/>
          </a:solidFill>
          <a:ln w="12600">
            <a:solidFill>
              <a:srgbClr val="d5dce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 88"/>
          <p:cNvSpPr/>
          <p:nvPr/>
        </p:nvSpPr>
        <p:spPr>
          <a:xfrm>
            <a:off x="7269480" y="3182040"/>
            <a:ext cx="11152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20" strike="noStrike" u="none">
                <a:solidFill>
                  <a:srgbClr val="557a68"/>
                </a:solidFill>
                <a:effectLst/>
                <a:uFillTx/>
                <a:latin typeface="Noto Sans CJK JP"/>
                <a:ea typeface="Noto Sans CJK JP"/>
              </a:rPr>
              <a:t>ESM-2</a:t>
            </a:r>
            <a:endParaRPr b="0" lang="en-US" sz="10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Shape 89"/>
          <p:cNvSpPr/>
          <p:nvPr/>
        </p:nvSpPr>
        <p:spPr>
          <a:xfrm>
            <a:off x="8412480" y="3072240"/>
            <a:ext cx="1718640" cy="502560"/>
          </a:xfrm>
          <a:prstGeom prst="rect">
            <a:avLst/>
          </a:prstGeom>
          <a:solidFill>
            <a:srgbClr val="ffffff"/>
          </a:solidFill>
          <a:ln w="12600">
            <a:solidFill>
              <a:srgbClr val="d5dce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 90"/>
          <p:cNvSpPr/>
          <p:nvPr/>
        </p:nvSpPr>
        <p:spPr>
          <a:xfrm>
            <a:off x="8439840" y="3182040"/>
            <a:ext cx="16639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30" strike="noStrike" u="none">
                <a:solidFill>
                  <a:srgbClr val="1f2933"/>
                </a:solidFill>
                <a:effectLst/>
                <a:uFillTx/>
                <a:latin typeface="Noto Sans CJK JP"/>
                <a:ea typeface="Noto Sans CJK JP"/>
              </a:rPr>
              <a:t>ARCH-4 + all aux</a:t>
            </a:r>
            <a:endParaRPr b="0" lang="en-US" sz="9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Shape 91"/>
          <p:cNvSpPr/>
          <p:nvPr/>
        </p:nvSpPr>
        <p:spPr>
          <a:xfrm>
            <a:off x="10131480" y="3072240"/>
            <a:ext cx="1005480" cy="502560"/>
          </a:xfrm>
          <a:prstGeom prst="rect">
            <a:avLst/>
          </a:prstGeom>
          <a:solidFill>
            <a:srgbClr val="ffffff"/>
          </a:solidFill>
          <a:ln w="12600">
            <a:solidFill>
              <a:srgbClr val="d5dce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Text 92"/>
          <p:cNvSpPr/>
          <p:nvPr/>
        </p:nvSpPr>
        <p:spPr>
          <a:xfrm>
            <a:off x="10158840" y="3182040"/>
            <a:ext cx="9507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20" strike="noStrike" u="none">
                <a:solidFill>
                  <a:srgbClr val="1f2933"/>
                </a:solidFill>
                <a:effectLst/>
                <a:uFillTx/>
                <a:latin typeface="Noto Sans CJK JP"/>
                <a:ea typeface="Noto Sans CJK JP"/>
              </a:rPr>
              <a:t>0.470</a:t>
            </a:r>
            <a:endParaRPr b="0" lang="en-US" sz="10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Shape 93"/>
          <p:cNvSpPr/>
          <p:nvPr/>
        </p:nvSpPr>
        <p:spPr>
          <a:xfrm>
            <a:off x="11137320" y="3072240"/>
            <a:ext cx="1005480" cy="502560"/>
          </a:xfrm>
          <a:prstGeom prst="rect">
            <a:avLst/>
          </a:prstGeom>
          <a:solidFill>
            <a:srgbClr val="ffffff"/>
          </a:solidFill>
          <a:ln w="12600">
            <a:solidFill>
              <a:srgbClr val="d5dce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 94"/>
          <p:cNvSpPr/>
          <p:nvPr/>
        </p:nvSpPr>
        <p:spPr>
          <a:xfrm>
            <a:off x="11164680" y="3182040"/>
            <a:ext cx="9507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20" strike="noStrike" u="none">
                <a:solidFill>
                  <a:srgbClr val="1f2933"/>
                </a:solidFill>
                <a:effectLst/>
                <a:uFillTx/>
                <a:latin typeface="Noto Sans CJK JP"/>
                <a:ea typeface="Noto Sans CJK JP"/>
              </a:rPr>
              <a:t>0.421</a:t>
            </a:r>
            <a:endParaRPr b="0" lang="en-US" sz="10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Shape 95"/>
          <p:cNvSpPr/>
          <p:nvPr/>
        </p:nvSpPr>
        <p:spPr>
          <a:xfrm>
            <a:off x="6400800" y="3575160"/>
            <a:ext cx="840960" cy="502560"/>
          </a:xfrm>
          <a:prstGeom prst="rect">
            <a:avLst/>
          </a:prstGeom>
          <a:solidFill>
            <a:srgbClr val="ffffff"/>
          </a:solidFill>
          <a:ln w="12600">
            <a:solidFill>
              <a:srgbClr val="d5dce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 96"/>
          <p:cNvSpPr/>
          <p:nvPr/>
        </p:nvSpPr>
        <p:spPr>
          <a:xfrm>
            <a:off x="6428160" y="3684960"/>
            <a:ext cx="7858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20" strike="noStrike" u="none">
                <a:solidFill>
                  <a:srgbClr val="1f2933"/>
                </a:solidFill>
                <a:effectLst/>
                <a:uFillTx/>
                <a:latin typeface="Noto Sans CJK JP"/>
                <a:ea typeface="Noto Sans CJK JP"/>
              </a:rPr>
              <a:t>H047</a:t>
            </a:r>
            <a:endParaRPr b="0" lang="en-US" sz="10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Shape 97"/>
          <p:cNvSpPr/>
          <p:nvPr/>
        </p:nvSpPr>
        <p:spPr>
          <a:xfrm>
            <a:off x="7242120" y="3575160"/>
            <a:ext cx="1170000" cy="502560"/>
          </a:xfrm>
          <a:prstGeom prst="rect">
            <a:avLst/>
          </a:prstGeom>
          <a:solidFill>
            <a:srgbClr val="ffffff"/>
          </a:solidFill>
          <a:ln w="12600">
            <a:solidFill>
              <a:srgbClr val="d5dce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Text 98"/>
          <p:cNvSpPr/>
          <p:nvPr/>
        </p:nvSpPr>
        <p:spPr>
          <a:xfrm>
            <a:off x="7269480" y="3684960"/>
            <a:ext cx="11152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20" strike="noStrike" u="none">
                <a:solidFill>
                  <a:srgbClr val="557a68"/>
                </a:solidFill>
                <a:effectLst/>
                <a:uFillTx/>
                <a:latin typeface="Noto Sans CJK JP"/>
                <a:ea typeface="Noto Sans CJK JP"/>
              </a:rPr>
              <a:t>ESM-2*</a:t>
            </a:r>
            <a:endParaRPr b="0" lang="en-US" sz="10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Shape 99"/>
          <p:cNvSpPr/>
          <p:nvPr/>
        </p:nvSpPr>
        <p:spPr>
          <a:xfrm>
            <a:off x="8412480" y="3575160"/>
            <a:ext cx="1718640" cy="502560"/>
          </a:xfrm>
          <a:prstGeom prst="rect">
            <a:avLst/>
          </a:prstGeom>
          <a:solidFill>
            <a:srgbClr val="ffffff"/>
          </a:solidFill>
          <a:ln w="12600">
            <a:solidFill>
              <a:srgbClr val="d5dce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Text 100"/>
          <p:cNvSpPr/>
          <p:nvPr/>
        </p:nvSpPr>
        <p:spPr>
          <a:xfrm>
            <a:off x="8439840" y="3684960"/>
            <a:ext cx="16639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30" strike="noStrike" u="none">
                <a:solidFill>
                  <a:srgbClr val="1f2933"/>
                </a:solidFill>
                <a:effectLst/>
                <a:uFillTx/>
                <a:latin typeface="Noto Sans CJK JP"/>
                <a:ea typeface="Noto Sans CJK JP"/>
              </a:rPr>
              <a:t>classical RBF-SVR</a:t>
            </a:r>
            <a:endParaRPr b="0" lang="en-US" sz="9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Shape 101"/>
          <p:cNvSpPr/>
          <p:nvPr/>
        </p:nvSpPr>
        <p:spPr>
          <a:xfrm>
            <a:off x="10131480" y="3575160"/>
            <a:ext cx="1005480" cy="502560"/>
          </a:xfrm>
          <a:prstGeom prst="rect">
            <a:avLst/>
          </a:prstGeom>
          <a:solidFill>
            <a:srgbClr val="ffffff"/>
          </a:solidFill>
          <a:ln w="12600">
            <a:solidFill>
              <a:srgbClr val="d5dce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 102"/>
          <p:cNvSpPr/>
          <p:nvPr/>
        </p:nvSpPr>
        <p:spPr>
          <a:xfrm>
            <a:off x="10158840" y="3684960"/>
            <a:ext cx="9507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20" strike="noStrike" u="none">
                <a:solidFill>
                  <a:srgbClr val="1f2933"/>
                </a:solidFill>
                <a:effectLst/>
                <a:uFillTx/>
                <a:latin typeface="Noto Sans CJK JP"/>
                <a:ea typeface="Noto Sans CJK JP"/>
              </a:rPr>
              <a:t>0.448</a:t>
            </a:r>
            <a:endParaRPr b="0" lang="en-US" sz="10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Shape 103"/>
          <p:cNvSpPr/>
          <p:nvPr/>
        </p:nvSpPr>
        <p:spPr>
          <a:xfrm>
            <a:off x="11137320" y="3575160"/>
            <a:ext cx="1005480" cy="502560"/>
          </a:xfrm>
          <a:prstGeom prst="rect">
            <a:avLst/>
          </a:prstGeom>
          <a:solidFill>
            <a:srgbClr val="ffffff"/>
          </a:solidFill>
          <a:ln w="12600">
            <a:solidFill>
              <a:srgbClr val="d5dce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Text 104"/>
          <p:cNvSpPr/>
          <p:nvPr/>
        </p:nvSpPr>
        <p:spPr>
          <a:xfrm>
            <a:off x="11164680" y="3684960"/>
            <a:ext cx="9507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20" strike="noStrike" u="none">
                <a:solidFill>
                  <a:srgbClr val="1f2933"/>
                </a:solidFill>
                <a:effectLst/>
                <a:uFillTx/>
                <a:latin typeface="Noto Sans CJK JP"/>
                <a:ea typeface="Noto Sans CJK JP"/>
              </a:rPr>
              <a:t>0.427</a:t>
            </a:r>
            <a:endParaRPr b="0" lang="en-US" sz="10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Text 105"/>
          <p:cNvSpPr/>
          <p:nvPr/>
        </p:nvSpPr>
        <p:spPr>
          <a:xfrm>
            <a:off x="6419160" y="4160520"/>
            <a:ext cx="47728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30" strike="noStrike" u="none">
                <a:solidFill>
                  <a:srgbClr val="5e6b75"/>
                </a:solidFill>
                <a:effectLst/>
                <a:uFillTx/>
                <a:latin typeface="Noto Sans CJK JP"/>
                <a:ea typeface="Noto Sans CJK JP"/>
              </a:rPr>
              <a:t>* H047</a:t>
            </a:r>
            <a:r>
              <a:rPr b="0" lang="zh-CN" sz="930" strike="noStrike" u="none">
                <a:solidFill>
                  <a:srgbClr val="5e6b75"/>
                </a:solidFill>
                <a:effectLst/>
                <a:uFillTx/>
                <a:latin typeface="Noto Sans CJK JP"/>
                <a:ea typeface="Noto Sans CJK JP"/>
              </a:rPr>
              <a:t>は固定特徴量 </a:t>
            </a:r>
            <a:r>
              <a:rPr b="0" lang="en-US" sz="930" strike="noStrike" u="none">
                <a:solidFill>
                  <a:srgbClr val="5e6b75"/>
                </a:solidFill>
                <a:effectLst/>
                <a:uFillTx/>
                <a:latin typeface="Noto Sans CJK JP"/>
                <a:ea typeface="Noto Sans CJK JP"/>
              </a:rPr>
              <a:t>+ RBF-SVR</a:t>
            </a:r>
            <a:r>
              <a:rPr b="0" lang="zh-CN" sz="930" strike="noStrike" u="none">
                <a:solidFill>
                  <a:srgbClr val="5e6b75"/>
                </a:solidFill>
                <a:effectLst/>
                <a:uFillTx/>
                <a:latin typeface="Noto Sans CJK JP"/>
                <a:ea typeface="Noto Sans CJK JP"/>
              </a:rPr>
              <a:t>で、</a:t>
            </a:r>
            <a:r>
              <a:rPr b="0" lang="en-US" sz="930" strike="noStrike" u="none">
                <a:solidFill>
                  <a:srgbClr val="5e6b75"/>
                </a:solidFill>
                <a:effectLst/>
                <a:uFillTx/>
                <a:latin typeface="Noto Sans CJK JP"/>
                <a:ea typeface="Noto Sans CJK JP"/>
              </a:rPr>
              <a:t>Transformer</a:t>
            </a:r>
            <a:r>
              <a:rPr b="0" lang="zh-CN" sz="930" strike="noStrike" u="none">
                <a:solidFill>
                  <a:srgbClr val="5e6b75"/>
                </a:solidFill>
                <a:effectLst/>
                <a:uFillTx/>
                <a:latin typeface="Noto Sans CJK JP"/>
                <a:ea typeface="Noto Sans CJK JP"/>
              </a:rPr>
              <a:t>と同一モデルクラスではない。</a:t>
            </a:r>
            <a:endParaRPr b="0" lang="en-US" sz="9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Shape 106"/>
          <p:cNvSpPr/>
          <p:nvPr/>
        </p:nvSpPr>
        <p:spPr>
          <a:xfrm>
            <a:off x="658440" y="4663440"/>
            <a:ext cx="10862640" cy="1215720"/>
          </a:xfrm>
          <a:prstGeom prst="roundRect">
            <a:avLst>
              <a:gd name="adj" fmla="val 6015"/>
            </a:avLst>
          </a:prstGeom>
          <a:solidFill>
            <a:srgbClr val="eff3f6"/>
          </a:solidFill>
          <a:ln w="12600">
            <a:solidFill>
              <a:srgbClr val="d1da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Text 107"/>
          <p:cNvSpPr/>
          <p:nvPr/>
        </p:nvSpPr>
        <p:spPr>
          <a:xfrm>
            <a:off x="868680" y="4883040"/>
            <a:ext cx="114264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200" strike="noStrike" u="none">
                <a:solidFill>
                  <a:srgbClr val="3c566b"/>
                </a:solidFill>
                <a:effectLst/>
                <a:uFillTx/>
                <a:latin typeface="Noto Sans CJK JP"/>
                <a:ea typeface="Noto Sans CJK JP"/>
              </a:rPr>
              <a:t>今回の読み方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Text 108"/>
          <p:cNvSpPr/>
          <p:nvPr/>
        </p:nvSpPr>
        <p:spPr>
          <a:xfrm>
            <a:off x="2057400" y="4791600"/>
            <a:ext cx="88236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60" strike="noStrike" u="none">
                <a:solidFill>
                  <a:srgbClr val="1f2933"/>
                </a:solidFill>
                <a:effectLst/>
                <a:uFillTx/>
                <a:latin typeface="Noto Sans CJK JP"/>
                <a:ea typeface="Noto Sans CJK JP"/>
              </a:rPr>
              <a:t>TmApp</a:t>
            </a:r>
            <a:r>
              <a:rPr b="0" lang="zh-CN" sz="1160" strike="noStrike" u="none">
                <a:solidFill>
                  <a:srgbClr val="1f2933"/>
                </a:solidFill>
                <a:effectLst/>
                <a:uFillTx/>
                <a:latin typeface="Noto Sans CJK JP"/>
                <a:ea typeface="Noto Sans CJK JP"/>
              </a:rPr>
              <a:t>：</a:t>
            </a:r>
            <a:r>
              <a:rPr b="0" lang="en-US" sz="1160" strike="noStrike" u="none">
                <a:solidFill>
                  <a:srgbClr val="1f2933"/>
                </a:solidFill>
                <a:effectLst/>
                <a:uFillTx/>
                <a:latin typeface="Noto Sans CJK JP"/>
                <a:ea typeface="Noto Sans CJK JP"/>
              </a:rPr>
              <a:t>AbLang2 + ARCH-3/7 </a:t>
            </a:r>
            <a:r>
              <a:rPr b="0" lang="zh-CN" sz="1160" strike="noStrike" u="none">
                <a:solidFill>
                  <a:srgbClr val="1f2933"/>
                </a:solidFill>
                <a:effectLst/>
                <a:uFillTx/>
                <a:latin typeface="Noto Sans CJK JP"/>
                <a:ea typeface="Noto Sans CJK JP"/>
              </a:rPr>
              <a:t>が有望。単純な深さ・幅の増加は効かなかった。</a:t>
            </a:r>
            <a:endParaRPr b="0" lang="en-US" sz="11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60" strike="noStrike" u="none">
                <a:solidFill>
                  <a:srgbClr val="1f2933"/>
                </a:solidFill>
                <a:effectLst/>
                <a:uFillTx/>
                <a:latin typeface="Noto Sans CJK JP"/>
                <a:ea typeface="Noto Sans CJK JP"/>
              </a:rPr>
              <a:t>HIC</a:t>
            </a:r>
            <a:r>
              <a:rPr b="0" lang="zh-CN" sz="1160" strike="noStrike" u="none">
                <a:solidFill>
                  <a:srgbClr val="1f2933"/>
                </a:solidFill>
                <a:effectLst/>
                <a:uFillTx/>
                <a:latin typeface="Noto Sans CJK JP"/>
                <a:ea typeface="Noto Sans CJK JP"/>
              </a:rPr>
              <a:t>：</a:t>
            </a:r>
            <a:r>
              <a:rPr b="0" lang="en-US" sz="1160" strike="noStrike" u="none">
                <a:solidFill>
                  <a:srgbClr val="1f2933"/>
                </a:solidFill>
                <a:effectLst/>
                <a:uFillTx/>
                <a:latin typeface="Noto Sans CJK JP"/>
                <a:ea typeface="Noto Sans CJK JP"/>
              </a:rPr>
              <a:t>architecture</a:t>
            </a:r>
            <a:r>
              <a:rPr b="0" lang="zh-CN" sz="1160" strike="noStrike" u="none">
                <a:solidFill>
                  <a:srgbClr val="1f2933"/>
                </a:solidFill>
                <a:effectLst/>
                <a:uFillTx/>
                <a:latin typeface="Noto Sans CJK JP"/>
                <a:ea typeface="Noto Sans CJK JP"/>
              </a:rPr>
              <a:t>差より </a:t>
            </a:r>
            <a:r>
              <a:rPr b="0" lang="en-US" sz="1160" strike="noStrike" u="none">
                <a:solidFill>
                  <a:srgbClr val="1f2933"/>
                </a:solidFill>
                <a:effectLst/>
                <a:uFillTx/>
                <a:latin typeface="Noto Sans CJK JP"/>
                <a:ea typeface="Noto Sans CJK JP"/>
              </a:rPr>
              <a:t>SURFACE </a:t>
            </a:r>
            <a:r>
              <a:rPr b="0" lang="zh-CN" sz="1160" strike="noStrike" u="none">
                <a:solidFill>
                  <a:srgbClr val="1f2933"/>
                </a:solidFill>
                <a:effectLst/>
                <a:uFillTx/>
                <a:latin typeface="Noto Sans CJK JP"/>
                <a:ea typeface="Noto Sans CJK JP"/>
              </a:rPr>
              <a:t>の追加が効き、</a:t>
            </a:r>
            <a:r>
              <a:rPr b="0" lang="en-US" sz="1160" strike="noStrike" u="none">
                <a:solidFill>
                  <a:srgbClr val="1f2933"/>
                </a:solidFill>
                <a:effectLst/>
                <a:uFillTx/>
                <a:latin typeface="Noto Sans CJK JP"/>
                <a:ea typeface="Noto Sans CJK JP"/>
              </a:rPr>
              <a:t>Scratch + SURFACE </a:t>
            </a:r>
            <a:r>
              <a:rPr b="0" lang="zh-CN" sz="1160" strike="noStrike" u="none">
                <a:solidFill>
                  <a:srgbClr val="1f2933"/>
                </a:solidFill>
                <a:effectLst/>
                <a:uFillTx/>
                <a:latin typeface="Noto Sans CJK JP"/>
                <a:ea typeface="Noto Sans CJK JP"/>
              </a:rPr>
              <a:t>も </a:t>
            </a:r>
            <a:r>
              <a:rPr b="0" lang="en-US" sz="1160" strike="noStrike" u="none">
                <a:solidFill>
                  <a:srgbClr val="1f2933"/>
                </a:solidFill>
                <a:effectLst/>
                <a:uFillTx/>
                <a:latin typeface="Noto Sans CJK JP"/>
                <a:ea typeface="Noto Sans CJK JP"/>
              </a:rPr>
              <a:t>ESM-2 </a:t>
            </a:r>
            <a:r>
              <a:rPr b="0" lang="zh-CN" sz="1160" strike="noStrike" u="none">
                <a:solidFill>
                  <a:srgbClr val="1f2933"/>
                </a:solidFill>
                <a:effectLst/>
                <a:uFillTx/>
                <a:latin typeface="Noto Sans CJK JP"/>
                <a:ea typeface="Noto Sans CJK JP"/>
              </a:rPr>
              <a:t>系と同程度の有望帯。</a:t>
            </a:r>
            <a:endParaRPr b="0" lang="en-US" sz="11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Text 109"/>
          <p:cNvSpPr/>
          <p:nvPr/>
        </p:nvSpPr>
        <p:spPr>
          <a:xfrm>
            <a:off x="2057400" y="5403960"/>
            <a:ext cx="88236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80" strike="noStrike" u="none">
                <a:solidFill>
                  <a:srgbClr val="5e6b75"/>
                </a:solidFill>
                <a:effectLst/>
                <a:uFillTx/>
                <a:latin typeface="Noto Sans CJK JP"/>
                <a:ea typeface="Noto Sans CJK JP"/>
              </a:rPr>
              <a:t>※ 1</a:t>
            </a:r>
            <a:r>
              <a:rPr b="0" lang="zh-CN" sz="980" strike="noStrike" u="none">
                <a:solidFill>
                  <a:srgbClr val="5e6b75"/>
                </a:solidFill>
                <a:effectLst/>
                <a:uFillTx/>
                <a:latin typeface="Noto Sans CJK JP"/>
                <a:ea typeface="Noto Sans CJK JP"/>
              </a:rPr>
              <a:t>位の一本釣りより「有望クラスター」として見るのが安全。モデルも人も、少数データでは少し運に左右されます。</a:t>
            </a:r>
            <a:endParaRPr b="0" lang="en-US" sz="9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PlaceHolder 1"/>
          <p:cNvSpPr>
            <a:spLocks noGrp="1"/>
          </p:cNvSpPr>
          <p:nvPr>
            <p:ph type="sldNum" idx="7"/>
          </p:nvPr>
        </p:nvSpPr>
        <p:spPr>
          <a:xfrm>
            <a:off x="11640240" y="645552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850" strike="noStrike" u="none">
                <a:solidFill>
                  <a:srgbClr val="6b7785"/>
                </a:solidFill>
                <a:effectLst/>
                <a:uFillTx/>
                <a:latin typeface="Noto Sans CJK JP"/>
                <a:ea typeface="Noto Sans CJK JP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7C0B9167-4633-49CE-BF4C-55A6477718C1}" type="slidenum">
              <a:rPr b="0" lang="en-US" sz="850" strike="noStrike" u="none">
                <a:solidFill>
                  <a:srgbClr val="6b7785"/>
                </a:solidFill>
                <a:effectLst/>
                <a:uFillTx/>
                <a:latin typeface="Noto Sans CJK JP"/>
                <a:ea typeface="Noto Sans CJK JP"/>
              </a:rPr>
              <a:t>&lt;number&gt;</a:t>
            </a:fld>
            <a:endParaRPr b="0" lang="en-US" sz="8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Text 0"/>
          <p:cNvSpPr/>
          <p:nvPr/>
        </p:nvSpPr>
        <p:spPr>
          <a:xfrm>
            <a:off x="530280" y="347400"/>
            <a:ext cx="1110960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trike="noStrike" u="none">
                <a:solidFill>
                  <a:srgbClr val="243746"/>
                </a:solidFill>
                <a:effectLst/>
                <a:uFillTx/>
                <a:latin typeface="Noto Sans CJK JP"/>
                <a:ea typeface="Noto Sans CJK JP"/>
              </a:rPr>
              <a:t>Appendix</a:t>
            </a:r>
            <a:r>
              <a:rPr b="1" lang="zh-CN" sz="2400" strike="noStrike" u="none">
                <a:solidFill>
                  <a:srgbClr val="243746"/>
                </a:solidFill>
                <a:effectLst/>
                <a:uFillTx/>
                <a:latin typeface="Noto Sans CJK JP"/>
                <a:ea typeface="Noto Sans CJK JP"/>
              </a:rPr>
              <a:t>｜</a:t>
            </a:r>
            <a:r>
              <a:rPr b="1" lang="en-US" sz="2400" strike="noStrike" u="none">
                <a:solidFill>
                  <a:srgbClr val="243746"/>
                </a:solidFill>
                <a:effectLst/>
                <a:uFillTx/>
                <a:latin typeface="Noto Sans CJK JP"/>
                <a:ea typeface="Noto Sans CJK JP"/>
              </a:rPr>
              <a:t>SURFACE</a:t>
            </a:r>
            <a:r>
              <a:rPr b="1" lang="zh-CN" sz="2400" strike="noStrike" u="none">
                <a:solidFill>
                  <a:srgbClr val="243746"/>
                </a:solidFill>
                <a:effectLst/>
                <a:uFillTx/>
                <a:latin typeface="Noto Sans CJK JP"/>
                <a:ea typeface="Noto Sans CJK JP"/>
              </a:rPr>
              <a:t>特徴の作り方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Text 1"/>
          <p:cNvSpPr/>
          <p:nvPr/>
        </p:nvSpPr>
        <p:spPr>
          <a:xfrm>
            <a:off x="548640" y="831960"/>
            <a:ext cx="11018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1050" strike="noStrike" u="none">
                <a:solidFill>
                  <a:srgbClr val="5e6b75"/>
                </a:solidFill>
                <a:effectLst/>
                <a:uFillTx/>
                <a:latin typeface="Noto Sans CJK JP"/>
                <a:ea typeface="Noto Sans CJK JP"/>
              </a:rPr>
              <a:t>本筋は</a:t>
            </a:r>
            <a:r>
              <a:rPr b="0" lang="en-US" sz="1050" strike="noStrike" u="none">
                <a:solidFill>
                  <a:srgbClr val="5e6b75"/>
                </a:solidFill>
                <a:effectLst/>
                <a:uFillTx/>
                <a:latin typeface="Noto Sans CJK JP"/>
                <a:ea typeface="Noto Sans CJK JP"/>
              </a:rPr>
              <a:t>Transformer</a:t>
            </a:r>
            <a:r>
              <a:rPr b="0" lang="zh-CN" sz="1050" strike="noStrike" u="none">
                <a:solidFill>
                  <a:srgbClr val="5e6b75"/>
                </a:solidFill>
                <a:effectLst/>
                <a:uFillTx/>
                <a:latin typeface="Noto Sans CJK JP"/>
                <a:ea typeface="Noto Sans CJK JP"/>
              </a:rPr>
              <a:t>。ここでは</a:t>
            </a:r>
            <a:r>
              <a:rPr b="0" lang="en-US" sz="1050" strike="noStrike" u="none">
                <a:solidFill>
                  <a:srgbClr val="5e6b75"/>
                </a:solidFill>
                <a:effectLst/>
                <a:uFillTx/>
                <a:latin typeface="Noto Sans CJK JP"/>
                <a:ea typeface="Noto Sans CJK JP"/>
              </a:rPr>
              <a:t>HIC</a:t>
            </a:r>
            <a:r>
              <a:rPr b="0" lang="zh-CN" sz="1050" strike="noStrike" u="none">
                <a:solidFill>
                  <a:srgbClr val="5e6b75"/>
                </a:solidFill>
                <a:effectLst/>
                <a:uFillTx/>
                <a:latin typeface="Noto Sans CJK JP"/>
                <a:ea typeface="Noto Sans CJK JP"/>
              </a:rPr>
              <a:t>で効いた構造・表面特徴を、実装に沿ってフローで整理。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Shape 2"/>
          <p:cNvSpPr/>
          <p:nvPr/>
        </p:nvSpPr>
        <p:spPr>
          <a:xfrm>
            <a:off x="658440" y="1225440"/>
            <a:ext cx="1599840" cy="310680"/>
          </a:xfrm>
          <a:prstGeom prst="roundRect">
            <a:avLst>
              <a:gd name="adj" fmla="val 23529"/>
            </a:avLst>
          </a:prstGeom>
          <a:solidFill>
            <a:srgbClr val="a27b40"/>
          </a:solidFill>
          <a:ln w="12600">
            <a:solidFill>
              <a:srgbClr val="a27b4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6" name="Text 3"/>
          <p:cNvSpPr/>
          <p:nvPr/>
        </p:nvSpPr>
        <p:spPr>
          <a:xfrm>
            <a:off x="685800" y="1266480"/>
            <a:ext cx="1545120" cy="20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30" strike="noStrike" u="none">
                <a:solidFill>
                  <a:srgbClr val="ffffff"/>
                </a:solidFill>
                <a:effectLst/>
                <a:uFillTx/>
                <a:latin typeface="Noto Sans CJK JP"/>
                <a:ea typeface="Noto Sans CJK JP"/>
              </a:rPr>
              <a:t>AROMATIC_TOPO 19</a:t>
            </a:r>
            <a:endParaRPr b="0" lang="en-US" sz="9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Shape 4"/>
          <p:cNvSpPr/>
          <p:nvPr/>
        </p:nvSpPr>
        <p:spPr>
          <a:xfrm>
            <a:off x="6217920" y="1225440"/>
            <a:ext cx="1508400" cy="310680"/>
          </a:xfrm>
          <a:prstGeom prst="roundRect">
            <a:avLst>
              <a:gd name="adj" fmla="val 23529"/>
            </a:avLst>
          </a:prstGeom>
          <a:solidFill>
            <a:srgbClr val="4f7f78"/>
          </a:solidFill>
          <a:ln w="12600">
            <a:solidFill>
              <a:srgbClr val="4f7f7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8" name="Text 5"/>
          <p:cNvSpPr/>
          <p:nvPr/>
        </p:nvSpPr>
        <p:spPr>
          <a:xfrm>
            <a:off x="6245280" y="1266480"/>
            <a:ext cx="1453680" cy="20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30" strike="noStrike" u="none">
                <a:solidFill>
                  <a:srgbClr val="ffffff"/>
                </a:solidFill>
                <a:effectLst/>
                <a:uFillTx/>
                <a:latin typeface="Noto Sans CJK JP"/>
                <a:ea typeface="Noto Sans CJK JP"/>
              </a:rPr>
              <a:t>HYDRO_FIELD 16</a:t>
            </a:r>
            <a:endParaRPr b="0" lang="en-US" sz="9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Shape 6"/>
          <p:cNvSpPr/>
          <p:nvPr/>
        </p:nvSpPr>
        <p:spPr>
          <a:xfrm>
            <a:off x="713160" y="1737360"/>
            <a:ext cx="1828440" cy="56664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600">
            <a:solidFill>
              <a:srgbClr val="d8de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Text 7"/>
          <p:cNvSpPr/>
          <p:nvPr/>
        </p:nvSpPr>
        <p:spPr>
          <a:xfrm>
            <a:off x="786240" y="1792080"/>
            <a:ext cx="16822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70" strike="noStrike" u="none">
                <a:solidFill>
                  <a:srgbClr val="1f2933"/>
                </a:solidFill>
                <a:effectLst/>
                <a:uFillTx/>
                <a:latin typeface="Noto Sans CJK JP"/>
                <a:ea typeface="Noto Sans CJK JP"/>
              </a:rPr>
              <a:t>ESMFold predicted Fv</a:t>
            </a:r>
            <a:endParaRPr b="0" lang="en-US" sz="10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Shape 8"/>
          <p:cNvSpPr/>
          <p:nvPr/>
        </p:nvSpPr>
        <p:spPr>
          <a:xfrm>
            <a:off x="1627560" y="2304000"/>
            <a:ext cx="360" cy="283680"/>
          </a:xfrm>
          <a:prstGeom prst="line">
            <a:avLst/>
          </a:prstGeom>
          <a:ln w="17640">
            <a:solidFill>
              <a:srgbClr val="3c566b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Shape 9"/>
          <p:cNvSpPr/>
          <p:nvPr/>
        </p:nvSpPr>
        <p:spPr>
          <a:xfrm>
            <a:off x="713160" y="2597040"/>
            <a:ext cx="1828440" cy="703800"/>
          </a:xfrm>
          <a:prstGeom prst="roundRect">
            <a:avLst>
              <a:gd name="adj" fmla="val 10390"/>
            </a:avLst>
          </a:prstGeom>
          <a:solidFill>
            <a:srgbClr val="f7f2ea"/>
          </a:solidFill>
          <a:ln w="12600">
            <a:solidFill>
              <a:srgbClr val="ddceb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Text 10"/>
          <p:cNvSpPr/>
          <p:nvPr/>
        </p:nvSpPr>
        <p:spPr>
          <a:xfrm>
            <a:off x="786240" y="2651760"/>
            <a:ext cx="16822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40" strike="noStrike" u="none">
                <a:solidFill>
                  <a:srgbClr val="715c3a"/>
                </a:solidFill>
                <a:effectLst/>
                <a:uFillTx/>
                <a:latin typeface="Noto Sans CJK JP"/>
                <a:ea typeface="Noto Sans CJK JP"/>
              </a:rPr>
              <a:t>F / W / Y </a:t>
            </a:r>
            <a:r>
              <a:rPr b="1" lang="zh-CN" sz="1040" strike="noStrike" u="none">
                <a:solidFill>
                  <a:srgbClr val="715c3a"/>
                </a:solidFill>
                <a:effectLst/>
                <a:uFillTx/>
                <a:latin typeface="Noto Sans CJK JP"/>
                <a:ea typeface="Noto Sans CJK JP"/>
              </a:rPr>
              <a:t>を抽出</a:t>
            </a:r>
            <a:endParaRPr b="0" lang="en-US" sz="10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40" strike="noStrike" u="none">
                <a:solidFill>
                  <a:srgbClr val="715c3a"/>
                </a:solidFill>
                <a:effectLst/>
                <a:uFillTx/>
                <a:latin typeface="Noto Sans CJK JP"/>
                <a:ea typeface="Noto Sans CJK JP"/>
              </a:rPr>
              <a:t>Shrake–Rupley SASA</a:t>
            </a:r>
            <a:endParaRPr b="0" lang="en-US" sz="10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Shape 11"/>
          <p:cNvSpPr/>
          <p:nvPr/>
        </p:nvSpPr>
        <p:spPr>
          <a:xfrm>
            <a:off x="1627560" y="3300840"/>
            <a:ext cx="360" cy="274320"/>
          </a:xfrm>
          <a:prstGeom prst="line">
            <a:avLst/>
          </a:prstGeom>
          <a:ln w="17640">
            <a:solidFill>
              <a:srgbClr val="3c566b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Shape 12"/>
          <p:cNvSpPr/>
          <p:nvPr/>
        </p:nvSpPr>
        <p:spPr>
          <a:xfrm>
            <a:off x="713160" y="3584520"/>
            <a:ext cx="1828440" cy="8409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600">
            <a:solidFill>
              <a:srgbClr val="d8de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Text 13"/>
          <p:cNvSpPr/>
          <p:nvPr/>
        </p:nvSpPr>
        <p:spPr>
          <a:xfrm>
            <a:off x="786240" y="3639240"/>
            <a:ext cx="16822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10" strike="noStrike" u="none">
                <a:solidFill>
                  <a:srgbClr val="1f2933"/>
                </a:solidFill>
                <a:effectLst/>
                <a:uFillTx/>
                <a:latin typeface="Noto Sans CJK JP"/>
                <a:ea typeface="Noto Sans CJK JP"/>
              </a:rPr>
              <a:t>RASA = SASA / MaxASA</a:t>
            </a:r>
            <a:endParaRPr b="0" lang="en-US" sz="101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10" strike="noStrike" u="none">
                <a:solidFill>
                  <a:srgbClr val="1f2933"/>
                </a:solidFill>
                <a:effectLst/>
                <a:uFillTx/>
                <a:latin typeface="Noto Sans CJK JP"/>
                <a:ea typeface="Noto Sans CJK JP"/>
              </a:rPr>
              <a:t>exposed ≥ 0.20</a:t>
            </a:r>
            <a:endParaRPr b="0" lang="en-US" sz="101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10" strike="noStrike" u="none">
                <a:solidFill>
                  <a:srgbClr val="1f2933"/>
                </a:solidFill>
                <a:effectLst/>
                <a:uFillTx/>
                <a:latin typeface="Noto Sans CJK JP"/>
                <a:ea typeface="Noto Sans CJK JP"/>
              </a:rPr>
              <a:t>strongly ≥ 0.50</a:t>
            </a:r>
            <a:endParaRPr b="0" lang="en-US" sz="101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Shape 14"/>
          <p:cNvSpPr/>
          <p:nvPr/>
        </p:nvSpPr>
        <p:spPr>
          <a:xfrm>
            <a:off x="1627560" y="4425480"/>
            <a:ext cx="360" cy="274320"/>
          </a:xfrm>
          <a:prstGeom prst="line">
            <a:avLst/>
          </a:prstGeom>
          <a:ln w="17640">
            <a:solidFill>
              <a:srgbClr val="3c566b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Shape 15"/>
          <p:cNvSpPr/>
          <p:nvPr/>
        </p:nvSpPr>
        <p:spPr>
          <a:xfrm>
            <a:off x="713160" y="4709160"/>
            <a:ext cx="1828440" cy="712800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600">
            <a:solidFill>
              <a:srgbClr val="d8de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Text 16"/>
          <p:cNvSpPr/>
          <p:nvPr/>
        </p:nvSpPr>
        <p:spPr>
          <a:xfrm>
            <a:off x="786240" y="4763880"/>
            <a:ext cx="168228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10" strike="noStrike" u="none">
                <a:solidFill>
                  <a:srgbClr val="1f2933"/>
                </a:solidFill>
                <a:effectLst/>
                <a:uFillTx/>
                <a:latin typeface="Noto Sans CJK JP"/>
                <a:ea typeface="Noto Sans CJK JP"/>
              </a:rPr>
              <a:t>Cα</a:t>
            </a:r>
            <a:r>
              <a:rPr b="0" lang="zh-CN" sz="1010" strike="noStrike" u="none">
                <a:solidFill>
                  <a:srgbClr val="1f2933"/>
                </a:solidFill>
                <a:effectLst/>
                <a:uFillTx/>
                <a:latin typeface="Noto Sans CJK JP"/>
                <a:ea typeface="Noto Sans CJK JP"/>
              </a:rPr>
              <a:t>距離 ≤ </a:t>
            </a:r>
            <a:r>
              <a:rPr b="0" lang="en-US" sz="1010" strike="noStrike" u="none">
                <a:solidFill>
                  <a:srgbClr val="1f2933"/>
                </a:solidFill>
                <a:effectLst/>
                <a:uFillTx/>
                <a:latin typeface="Noto Sans CJK JP"/>
                <a:ea typeface="Noto Sans CJK JP"/>
              </a:rPr>
              <a:t>8 Å </a:t>
            </a:r>
            <a:r>
              <a:rPr b="0" lang="zh-CN" sz="1010" strike="noStrike" u="none">
                <a:solidFill>
                  <a:srgbClr val="1f2933"/>
                </a:solidFill>
                <a:effectLst/>
                <a:uFillTx/>
                <a:latin typeface="Noto Sans CJK JP"/>
                <a:ea typeface="Noto Sans CJK JP"/>
              </a:rPr>
              <a:t>で </a:t>
            </a:r>
            <a:r>
              <a:rPr b="0" lang="en-US" sz="1010" strike="noStrike" u="none">
                <a:solidFill>
                  <a:srgbClr val="1f2933"/>
                </a:solidFill>
                <a:effectLst/>
                <a:uFillTx/>
                <a:latin typeface="Noto Sans CJK JP"/>
                <a:ea typeface="Noto Sans CJK JP"/>
              </a:rPr>
              <a:t>graph</a:t>
            </a:r>
            <a:r>
              <a:rPr b="0" lang="zh-CN" sz="1010" strike="noStrike" u="none">
                <a:solidFill>
                  <a:srgbClr val="1f2933"/>
                </a:solidFill>
                <a:effectLst/>
                <a:uFillTx/>
                <a:latin typeface="Noto Sans CJK JP"/>
                <a:ea typeface="Noto Sans CJK JP"/>
              </a:rPr>
              <a:t>化</a:t>
            </a:r>
            <a:endParaRPr b="0" lang="en-US" sz="101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10" strike="noStrike" u="none">
                <a:solidFill>
                  <a:srgbClr val="1f2933"/>
                </a:solidFill>
                <a:effectLst/>
                <a:uFillTx/>
                <a:latin typeface="Noto Sans CJK JP"/>
                <a:ea typeface="Noto Sans CJK JP"/>
              </a:rPr>
              <a:t>connected component = patch</a:t>
            </a:r>
            <a:endParaRPr b="0" lang="en-US" sz="101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Shape 17"/>
          <p:cNvSpPr/>
          <p:nvPr/>
        </p:nvSpPr>
        <p:spPr>
          <a:xfrm>
            <a:off x="1627560" y="5422320"/>
            <a:ext cx="360" cy="264960"/>
          </a:xfrm>
          <a:prstGeom prst="line">
            <a:avLst/>
          </a:prstGeom>
          <a:ln w="17640">
            <a:solidFill>
              <a:srgbClr val="3c566b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Shape 18"/>
          <p:cNvSpPr/>
          <p:nvPr/>
        </p:nvSpPr>
        <p:spPr>
          <a:xfrm>
            <a:off x="713160" y="5696640"/>
            <a:ext cx="1828440" cy="548280"/>
          </a:xfrm>
          <a:prstGeom prst="roundRect">
            <a:avLst>
              <a:gd name="adj" fmla="val 13333"/>
            </a:avLst>
          </a:prstGeom>
          <a:solidFill>
            <a:srgbClr val="eef3f7"/>
          </a:solidFill>
          <a:ln w="12600">
            <a:solidFill>
              <a:srgbClr val="d8de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Text 19"/>
          <p:cNvSpPr/>
          <p:nvPr/>
        </p:nvSpPr>
        <p:spPr>
          <a:xfrm>
            <a:off x="786240" y="5751720"/>
            <a:ext cx="168228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lnSpcReduction="9999"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70" strike="noStrike" u="none">
                <a:solidFill>
                  <a:srgbClr val="1f2933"/>
                </a:solidFill>
                <a:effectLst/>
                <a:uFillTx/>
                <a:latin typeface="Noto Sans CJK JP"/>
                <a:ea typeface="Noto Sans CJK JP"/>
              </a:rPr>
              <a:t>counts / exposed SASA /</a:t>
            </a:r>
            <a:endParaRPr b="0" lang="en-US" sz="9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70" strike="noStrike" u="none">
                <a:solidFill>
                  <a:srgbClr val="1f2933"/>
                </a:solidFill>
                <a:effectLst/>
                <a:uFillTx/>
                <a:latin typeface="Noto Sans CJK JP"/>
                <a:ea typeface="Noto Sans CJK JP"/>
              </a:rPr>
              <a:t>CDR fraction / patch / local 10 Å</a:t>
            </a:r>
            <a:endParaRPr b="0" lang="en-US" sz="9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Text 20"/>
          <p:cNvSpPr/>
          <p:nvPr/>
        </p:nvSpPr>
        <p:spPr>
          <a:xfrm>
            <a:off x="2770560" y="1847160"/>
            <a:ext cx="288000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1120" strike="noStrike" u="none">
                <a:solidFill>
                  <a:srgbClr val="1f2933"/>
                </a:solidFill>
                <a:effectLst/>
                <a:uFillTx/>
                <a:latin typeface="Noto Sans CJK JP"/>
                <a:ea typeface="Noto Sans CJK JP"/>
              </a:rPr>
              <a:t>露出した芳香族残基を「点」として扱い、</a:t>
            </a:r>
            <a:endParaRPr b="0" lang="en-US" sz="11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1120" strike="noStrike" u="none">
                <a:solidFill>
                  <a:srgbClr val="1f2933"/>
                </a:solidFill>
                <a:effectLst/>
                <a:uFillTx/>
                <a:latin typeface="Noto Sans CJK JP"/>
                <a:ea typeface="Noto Sans CJK JP"/>
              </a:rPr>
              <a:t>表面への露出量 </a:t>
            </a:r>
            <a:r>
              <a:rPr b="0" lang="en-US" sz="1120" strike="noStrike" u="none">
                <a:solidFill>
                  <a:srgbClr val="1f2933"/>
                </a:solidFill>
                <a:effectLst/>
                <a:uFillTx/>
                <a:latin typeface="Noto Sans CJK JP"/>
                <a:ea typeface="Noto Sans CJK JP"/>
              </a:rPr>
              <a:t>+ </a:t>
            </a:r>
            <a:r>
              <a:rPr b="0" lang="zh-CN" sz="1120" strike="noStrike" u="none">
                <a:solidFill>
                  <a:srgbClr val="1f2933"/>
                </a:solidFill>
                <a:effectLst/>
                <a:uFillTx/>
                <a:latin typeface="Noto Sans CJK JP"/>
                <a:ea typeface="Noto Sans CJK JP"/>
              </a:rPr>
              <a:t>空間的な集積を記述</a:t>
            </a:r>
            <a:endParaRPr b="0" lang="en-US" sz="11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Shape 21"/>
          <p:cNvSpPr/>
          <p:nvPr/>
        </p:nvSpPr>
        <p:spPr>
          <a:xfrm>
            <a:off x="3337560" y="2880360"/>
            <a:ext cx="594360" cy="301680"/>
          </a:xfrm>
          <a:prstGeom prst="line">
            <a:avLst/>
          </a:prstGeom>
          <a:ln w="17640">
            <a:solidFill>
              <a:srgbClr val="bfa57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Shape 22"/>
          <p:cNvSpPr/>
          <p:nvPr/>
        </p:nvSpPr>
        <p:spPr>
          <a:xfrm flipV="1">
            <a:off x="3931920" y="2761200"/>
            <a:ext cx="475200" cy="420840"/>
          </a:xfrm>
          <a:prstGeom prst="line">
            <a:avLst/>
          </a:prstGeom>
          <a:ln w="17640">
            <a:solidFill>
              <a:srgbClr val="bfa57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Shape 23"/>
          <p:cNvSpPr/>
          <p:nvPr/>
        </p:nvSpPr>
        <p:spPr>
          <a:xfrm>
            <a:off x="3931920" y="3182040"/>
            <a:ext cx="164520" cy="612720"/>
          </a:xfrm>
          <a:prstGeom prst="line">
            <a:avLst/>
          </a:prstGeom>
          <a:ln w="17640">
            <a:solidFill>
              <a:srgbClr val="bfa57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Shape 24"/>
          <p:cNvSpPr/>
          <p:nvPr/>
        </p:nvSpPr>
        <p:spPr>
          <a:xfrm>
            <a:off x="4407120" y="2761200"/>
            <a:ext cx="914400" cy="210600"/>
          </a:xfrm>
          <a:prstGeom prst="line">
            <a:avLst/>
          </a:prstGeom>
          <a:ln w="17640">
            <a:solidFill>
              <a:srgbClr val="bfa57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Shape 25"/>
          <p:cNvSpPr/>
          <p:nvPr/>
        </p:nvSpPr>
        <p:spPr>
          <a:xfrm flipV="1">
            <a:off x="4846320" y="2971800"/>
            <a:ext cx="475200" cy="365760"/>
          </a:xfrm>
          <a:prstGeom prst="line">
            <a:avLst/>
          </a:prstGeom>
          <a:ln w="17640">
            <a:solidFill>
              <a:srgbClr val="bfa57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Shape 26"/>
          <p:cNvSpPr/>
          <p:nvPr/>
        </p:nvSpPr>
        <p:spPr>
          <a:xfrm>
            <a:off x="3246120" y="2788920"/>
            <a:ext cx="200880" cy="200880"/>
          </a:xfrm>
          <a:prstGeom prst="ellipse">
            <a:avLst/>
          </a:prstGeom>
          <a:solidFill>
            <a:srgbClr val="a27b40"/>
          </a:solidFill>
          <a:ln w="90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0" name="Shape 27"/>
          <p:cNvSpPr/>
          <p:nvPr/>
        </p:nvSpPr>
        <p:spPr>
          <a:xfrm>
            <a:off x="3840480" y="3090600"/>
            <a:ext cx="200880" cy="200880"/>
          </a:xfrm>
          <a:prstGeom prst="ellipse">
            <a:avLst/>
          </a:prstGeom>
          <a:solidFill>
            <a:srgbClr val="a27b40"/>
          </a:solidFill>
          <a:ln w="90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1" name="Shape 28"/>
          <p:cNvSpPr/>
          <p:nvPr/>
        </p:nvSpPr>
        <p:spPr>
          <a:xfrm>
            <a:off x="4316040" y="2670120"/>
            <a:ext cx="200880" cy="200880"/>
          </a:xfrm>
          <a:prstGeom prst="ellipse">
            <a:avLst/>
          </a:prstGeom>
          <a:solidFill>
            <a:srgbClr val="a27b40"/>
          </a:solidFill>
          <a:ln w="90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2" name="Shape 29"/>
          <p:cNvSpPr/>
          <p:nvPr/>
        </p:nvSpPr>
        <p:spPr>
          <a:xfrm>
            <a:off x="4754880" y="3246120"/>
            <a:ext cx="200880" cy="200880"/>
          </a:xfrm>
          <a:prstGeom prst="ellipse">
            <a:avLst/>
          </a:prstGeom>
          <a:solidFill>
            <a:srgbClr val="a27b40"/>
          </a:solidFill>
          <a:ln w="90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3" name="Shape 30"/>
          <p:cNvSpPr/>
          <p:nvPr/>
        </p:nvSpPr>
        <p:spPr>
          <a:xfrm>
            <a:off x="5230440" y="2880360"/>
            <a:ext cx="200880" cy="200880"/>
          </a:xfrm>
          <a:prstGeom prst="ellipse">
            <a:avLst/>
          </a:prstGeom>
          <a:solidFill>
            <a:srgbClr val="a27b40"/>
          </a:solidFill>
          <a:ln w="90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4" name="Shape 31"/>
          <p:cNvSpPr/>
          <p:nvPr/>
        </p:nvSpPr>
        <p:spPr>
          <a:xfrm>
            <a:off x="4005000" y="3703320"/>
            <a:ext cx="200880" cy="200880"/>
          </a:xfrm>
          <a:prstGeom prst="ellipse">
            <a:avLst/>
          </a:prstGeom>
          <a:solidFill>
            <a:srgbClr val="c89b5b"/>
          </a:solidFill>
          <a:ln w="90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Text 32"/>
          <p:cNvSpPr/>
          <p:nvPr/>
        </p:nvSpPr>
        <p:spPr>
          <a:xfrm>
            <a:off x="3081600" y="4160520"/>
            <a:ext cx="25599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5e6b75"/>
                </a:solidFill>
                <a:effectLst/>
                <a:uFillTx/>
                <a:latin typeface="Noto Sans CJK JP"/>
                <a:ea typeface="Noto Sans CJK JP"/>
              </a:rPr>
              <a:t>8 Å</a:t>
            </a:r>
            <a:r>
              <a:rPr b="0" lang="zh-CN" sz="1000" strike="noStrike" u="none">
                <a:solidFill>
                  <a:srgbClr val="5e6b75"/>
                </a:solidFill>
                <a:effectLst/>
                <a:uFillTx/>
                <a:latin typeface="Noto Sans CJK JP"/>
                <a:ea typeface="Noto Sans CJK JP"/>
              </a:rPr>
              <a:t>以内を接続 → </a:t>
            </a:r>
            <a:r>
              <a:rPr b="0" lang="en-US" sz="1000" strike="noStrike" u="none">
                <a:solidFill>
                  <a:srgbClr val="5e6b75"/>
                </a:solidFill>
                <a:effectLst/>
                <a:uFillTx/>
                <a:latin typeface="Noto Sans CJK JP"/>
                <a:ea typeface="Noto Sans CJK JP"/>
              </a:rPr>
              <a:t>patch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Text 33"/>
          <p:cNvSpPr/>
          <p:nvPr/>
        </p:nvSpPr>
        <p:spPr>
          <a:xfrm>
            <a:off x="2788920" y="4681800"/>
            <a:ext cx="288000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1010" strike="noStrike" u="none">
                <a:solidFill>
                  <a:srgbClr val="5e6b75"/>
                </a:solidFill>
                <a:effectLst/>
                <a:uFillTx/>
                <a:latin typeface="Noto Sans CJK JP"/>
                <a:ea typeface="Noto Sans CJK JP"/>
              </a:rPr>
              <a:t>例：</a:t>
            </a:r>
            <a:r>
              <a:rPr b="0" lang="en-US" sz="1010" strike="noStrike" u="none">
                <a:solidFill>
                  <a:srgbClr val="5e6b75"/>
                </a:solidFill>
                <a:effectLst/>
                <a:uFillTx/>
                <a:latin typeface="Noto Sans CJK JP"/>
                <a:ea typeface="Noto Sans CJK JP"/>
              </a:rPr>
              <a:t>19</a:t>
            </a:r>
            <a:r>
              <a:rPr b="0" lang="zh-CN" sz="1010" strike="noStrike" u="none">
                <a:solidFill>
                  <a:srgbClr val="5e6b75"/>
                </a:solidFill>
                <a:effectLst/>
                <a:uFillTx/>
                <a:latin typeface="Noto Sans CJK JP"/>
                <a:ea typeface="Noto Sans CJK JP"/>
              </a:rPr>
              <a:t>列には </a:t>
            </a:r>
            <a:r>
              <a:rPr b="0" lang="en-US" sz="1010" strike="noStrike" u="none">
                <a:solidFill>
                  <a:srgbClr val="5e6b75"/>
                </a:solidFill>
                <a:effectLst/>
                <a:uFillTx/>
                <a:latin typeface="Noto Sans CJK JP"/>
                <a:ea typeface="Noto Sans CJK JP"/>
              </a:rPr>
              <a:t>exposed F/W/Y</a:t>
            </a:r>
            <a:r>
              <a:rPr b="0" lang="zh-CN" sz="1010" strike="noStrike" u="none">
                <a:solidFill>
                  <a:srgbClr val="5e6b75"/>
                </a:solidFill>
                <a:effectLst/>
                <a:uFillTx/>
                <a:latin typeface="Noto Sans CJK JP"/>
                <a:ea typeface="Noto Sans CJK JP"/>
              </a:rPr>
              <a:t>数、</a:t>
            </a:r>
            <a:r>
              <a:rPr b="0" lang="en-US" sz="1010" strike="noStrike" u="none">
                <a:solidFill>
                  <a:srgbClr val="5e6b75"/>
                </a:solidFill>
                <a:effectLst/>
                <a:uFillTx/>
                <a:latin typeface="Noto Sans CJK JP"/>
                <a:ea typeface="Noto Sans CJK JP"/>
              </a:rPr>
              <a:t>SASA</a:t>
            </a:r>
            <a:r>
              <a:rPr b="0" lang="zh-CN" sz="1010" strike="noStrike" u="none">
                <a:solidFill>
                  <a:srgbClr val="5e6b75"/>
                </a:solidFill>
                <a:effectLst/>
                <a:uFillTx/>
                <a:latin typeface="Noto Sans CJK JP"/>
                <a:ea typeface="Noto Sans CJK JP"/>
              </a:rPr>
              <a:t>、</a:t>
            </a:r>
            <a:r>
              <a:rPr b="0" lang="en-US" sz="1010" strike="noStrike" u="none">
                <a:solidFill>
                  <a:srgbClr val="5e6b75"/>
                </a:solidFill>
                <a:effectLst/>
                <a:uFillTx/>
                <a:latin typeface="Noto Sans CJK JP"/>
                <a:ea typeface="Noto Sans CJK JP"/>
              </a:rPr>
              <a:t>CDR</a:t>
            </a:r>
            <a:r>
              <a:rPr b="0" lang="zh-CN" sz="1010" strike="noStrike" u="none">
                <a:solidFill>
                  <a:srgbClr val="5e6b75"/>
                </a:solidFill>
                <a:effectLst/>
                <a:uFillTx/>
                <a:latin typeface="Noto Sans CJK JP"/>
                <a:ea typeface="Noto Sans CJK JP"/>
              </a:rPr>
              <a:t>内割合、</a:t>
            </a:r>
            <a:endParaRPr b="0" lang="en-US" sz="101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10" strike="noStrike" u="none">
                <a:solidFill>
                  <a:srgbClr val="5e6b75"/>
                </a:solidFill>
                <a:effectLst/>
                <a:uFillTx/>
                <a:latin typeface="Noto Sans CJK JP"/>
                <a:ea typeface="Noto Sans CJK JP"/>
              </a:rPr>
              <a:t>patch</a:t>
            </a:r>
            <a:r>
              <a:rPr b="0" lang="zh-CN" sz="1010" strike="noStrike" u="none">
                <a:solidFill>
                  <a:srgbClr val="5e6b75"/>
                </a:solidFill>
                <a:effectLst/>
                <a:uFillTx/>
                <a:latin typeface="Noto Sans CJK JP"/>
                <a:ea typeface="Noto Sans CJK JP"/>
              </a:rPr>
              <a:t>数・最大</a:t>
            </a:r>
            <a:r>
              <a:rPr b="0" lang="en-US" sz="1010" strike="noStrike" u="none">
                <a:solidFill>
                  <a:srgbClr val="5e6b75"/>
                </a:solidFill>
                <a:effectLst/>
                <a:uFillTx/>
                <a:latin typeface="Noto Sans CJK JP"/>
                <a:ea typeface="Noto Sans CJK JP"/>
              </a:rPr>
              <a:t>patch</a:t>
            </a:r>
            <a:r>
              <a:rPr b="0" lang="zh-CN" sz="1010" strike="noStrike" u="none">
                <a:solidFill>
                  <a:srgbClr val="5e6b75"/>
                </a:solidFill>
                <a:effectLst/>
                <a:uFillTx/>
                <a:latin typeface="Noto Sans CJK JP"/>
                <a:ea typeface="Noto Sans CJK JP"/>
              </a:rPr>
              <a:t>、</a:t>
            </a:r>
            <a:r>
              <a:rPr b="0" lang="en-US" sz="1010" strike="noStrike" u="none">
                <a:solidFill>
                  <a:srgbClr val="5e6b75"/>
                </a:solidFill>
                <a:effectLst/>
                <a:uFillTx/>
                <a:latin typeface="Noto Sans CJK JP"/>
                <a:ea typeface="Noto Sans CJK JP"/>
              </a:rPr>
              <a:t>10 Å</a:t>
            </a:r>
            <a:r>
              <a:rPr b="0" lang="zh-CN" sz="1010" strike="noStrike" u="none">
                <a:solidFill>
                  <a:srgbClr val="5e6b75"/>
                </a:solidFill>
                <a:effectLst/>
                <a:uFillTx/>
                <a:latin typeface="Noto Sans CJK JP"/>
                <a:ea typeface="Noto Sans CJK JP"/>
              </a:rPr>
              <a:t>局所</a:t>
            </a:r>
            <a:r>
              <a:rPr b="0" lang="en-US" sz="1010" strike="noStrike" u="none">
                <a:solidFill>
                  <a:srgbClr val="5e6b75"/>
                </a:solidFill>
                <a:effectLst/>
                <a:uFillTx/>
                <a:latin typeface="Noto Sans CJK JP"/>
                <a:ea typeface="Noto Sans CJK JP"/>
              </a:rPr>
              <a:t>SASA</a:t>
            </a:r>
            <a:r>
              <a:rPr b="0" lang="zh-CN" sz="1010" strike="noStrike" u="none">
                <a:solidFill>
                  <a:srgbClr val="5e6b75"/>
                </a:solidFill>
                <a:effectLst/>
                <a:uFillTx/>
                <a:latin typeface="Noto Sans CJK JP"/>
                <a:ea typeface="Noto Sans CJK JP"/>
              </a:rPr>
              <a:t>などを含む</a:t>
            </a:r>
            <a:endParaRPr b="0" lang="en-US" sz="101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Shape 34"/>
          <p:cNvSpPr/>
          <p:nvPr/>
        </p:nvSpPr>
        <p:spPr>
          <a:xfrm>
            <a:off x="6263640" y="1737360"/>
            <a:ext cx="1974600" cy="6580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600">
            <a:solidFill>
              <a:srgbClr val="d8de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Text 35"/>
          <p:cNvSpPr/>
          <p:nvPr/>
        </p:nvSpPr>
        <p:spPr>
          <a:xfrm>
            <a:off x="6336720" y="1792080"/>
            <a:ext cx="18284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40" strike="noStrike" u="none">
                <a:solidFill>
                  <a:srgbClr val="1f2933"/>
                </a:solidFill>
                <a:effectLst/>
                <a:uFillTx/>
                <a:latin typeface="Noto Sans CJK JP"/>
                <a:ea typeface="Noto Sans CJK JP"/>
              </a:rPr>
              <a:t>FreeSASA Lee–Richards surface</a:t>
            </a:r>
            <a:endParaRPr b="0" lang="en-US" sz="10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40" strike="noStrike" u="none">
                <a:solidFill>
                  <a:srgbClr val="1f2933"/>
                </a:solidFill>
                <a:effectLst/>
                <a:uFillTx/>
                <a:latin typeface="Noto Sans CJK JP"/>
                <a:ea typeface="Noto Sans CJK JP"/>
              </a:rPr>
              <a:t>probe = 1.4 Å</a:t>
            </a:r>
            <a:endParaRPr b="0" lang="en-US" sz="10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Shape 36"/>
          <p:cNvSpPr/>
          <p:nvPr/>
        </p:nvSpPr>
        <p:spPr>
          <a:xfrm>
            <a:off x="7251120" y="2395440"/>
            <a:ext cx="360" cy="274320"/>
          </a:xfrm>
          <a:prstGeom prst="line">
            <a:avLst/>
          </a:prstGeom>
          <a:ln w="17640">
            <a:solidFill>
              <a:srgbClr val="3c566b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Shape 37"/>
          <p:cNvSpPr/>
          <p:nvPr/>
        </p:nvSpPr>
        <p:spPr>
          <a:xfrm>
            <a:off x="6263640" y="2679120"/>
            <a:ext cx="1974600" cy="685440"/>
          </a:xfrm>
          <a:prstGeom prst="roundRect">
            <a:avLst>
              <a:gd name="adj" fmla="val 10667"/>
            </a:avLst>
          </a:prstGeom>
          <a:solidFill>
            <a:srgbClr val="edf5f2"/>
          </a:solidFill>
          <a:ln w="12600">
            <a:solidFill>
              <a:srgbClr val="cbddd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Text 38"/>
          <p:cNvSpPr/>
          <p:nvPr/>
        </p:nvSpPr>
        <p:spPr>
          <a:xfrm>
            <a:off x="6336720" y="2734200"/>
            <a:ext cx="1828440" cy="57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10" strike="noStrike" u="none">
                <a:solidFill>
                  <a:srgbClr val="1f2933"/>
                </a:solidFill>
                <a:effectLst/>
                <a:uFillTx/>
                <a:latin typeface="Noto Sans CJK JP"/>
                <a:ea typeface="Noto Sans CJK JP"/>
              </a:rPr>
              <a:t>surface points </a:t>
            </a:r>
            <a:r>
              <a:rPr b="1" lang="zh-CN" sz="1010" strike="noStrike" u="none">
                <a:solidFill>
                  <a:srgbClr val="1f2933"/>
                </a:solidFill>
                <a:effectLst/>
                <a:uFillTx/>
                <a:latin typeface="Noto Sans CJK JP"/>
                <a:ea typeface="Noto Sans CJK JP"/>
              </a:rPr>
              <a:t>を </a:t>
            </a:r>
            <a:r>
              <a:rPr b="1" lang="en-US" sz="1010" strike="noStrike" u="none">
                <a:solidFill>
                  <a:srgbClr val="1f2933"/>
                </a:solidFill>
                <a:effectLst/>
                <a:uFillTx/>
                <a:latin typeface="Noto Sans CJK JP"/>
                <a:ea typeface="Noto Sans CJK JP"/>
              </a:rPr>
              <a:t>sampling</a:t>
            </a:r>
            <a:endParaRPr b="0" lang="en-US" sz="101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10" strike="noStrike" u="none">
                <a:solidFill>
                  <a:srgbClr val="1f2933"/>
                </a:solidFill>
                <a:effectLst/>
                <a:uFillTx/>
                <a:latin typeface="Noto Sans CJK JP"/>
                <a:ea typeface="Noto Sans CJK JP"/>
              </a:rPr>
              <a:t>0.35 points/Å², max 2000</a:t>
            </a:r>
            <a:endParaRPr b="0" lang="en-US" sz="101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Shape 39"/>
          <p:cNvSpPr/>
          <p:nvPr/>
        </p:nvSpPr>
        <p:spPr>
          <a:xfrm>
            <a:off x="7251120" y="3364920"/>
            <a:ext cx="360" cy="274320"/>
          </a:xfrm>
          <a:prstGeom prst="line">
            <a:avLst/>
          </a:prstGeom>
          <a:ln w="17640">
            <a:solidFill>
              <a:srgbClr val="3c566b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Shape 40"/>
          <p:cNvSpPr/>
          <p:nvPr/>
        </p:nvSpPr>
        <p:spPr>
          <a:xfrm>
            <a:off x="6263640" y="3648600"/>
            <a:ext cx="1974600" cy="69444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600">
            <a:solidFill>
              <a:srgbClr val="d8de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Text 41"/>
          <p:cNvSpPr/>
          <p:nvPr/>
        </p:nvSpPr>
        <p:spPr>
          <a:xfrm>
            <a:off x="6336720" y="3703320"/>
            <a:ext cx="1828440" cy="58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1010" strike="noStrike" u="none">
                <a:solidFill>
                  <a:srgbClr val="1f2933"/>
                </a:solidFill>
                <a:effectLst/>
                <a:uFillTx/>
                <a:latin typeface="Noto Sans CJK JP"/>
                <a:ea typeface="Noto Sans CJK JP"/>
              </a:rPr>
              <a:t>各</a:t>
            </a:r>
            <a:r>
              <a:rPr b="0" lang="en-US" sz="1010" strike="noStrike" u="none">
                <a:solidFill>
                  <a:srgbClr val="1f2933"/>
                </a:solidFill>
                <a:effectLst/>
                <a:uFillTx/>
                <a:latin typeface="Noto Sans CJK JP"/>
                <a:ea typeface="Noto Sans CJK JP"/>
              </a:rPr>
              <a:t>heavy atom</a:t>
            </a:r>
            <a:r>
              <a:rPr b="0" lang="zh-CN" sz="1010" strike="noStrike" u="none">
                <a:solidFill>
                  <a:srgbClr val="1f2933"/>
                </a:solidFill>
                <a:effectLst/>
                <a:uFillTx/>
                <a:latin typeface="Noto Sans CJK JP"/>
                <a:ea typeface="Noto Sans CJK JP"/>
              </a:rPr>
              <a:t>へ</a:t>
            </a:r>
            <a:endParaRPr b="0" lang="en-US" sz="101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10" strike="noStrike" u="none">
                <a:solidFill>
                  <a:srgbClr val="1f2933"/>
                </a:solidFill>
                <a:effectLst/>
                <a:uFillTx/>
                <a:latin typeface="Noto Sans CJK JP"/>
                <a:ea typeface="Noto Sans CJK JP"/>
              </a:rPr>
              <a:t>Fauchère–Pliska </a:t>
            </a:r>
            <a:r>
              <a:rPr b="0" lang="zh-CN" sz="1010" strike="noStrike" u="none">
                <a:solidFill>
                  <a:srgbClr val="1f2933"/>
                </a:solidFill>
                <a:effectLst/>
                <a:uFillTx/>
                <a:latin typeface="Noto Sans CJK JP"/>
                <a:ea typeface="Noto Sans CJK JP"/>
              </a:rPr>
              <a:t>疎水性 </a:t>
            </a:r>
            <a:r>
              <a:rPr b="0" lang="en-US" sz="1010" strike="noStrike" u="none">
                <a:solidFill>
                  <a:srgbClr val="1f2933"/>
                </a:solidFill>
                <a:effectLst/>
                <a:uFillTx/>
                <a:latin typeface="Noto Sans CJK JP"/>
                <a:ea typeface="Noto Sans CJK JP"/>
              </a:rPr>
              <a:t>πᵢ</a:t>
            </a:r>
            <a:endParaRPr b="0" lang="en-US" sz="101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Shape 42"/>
          <p:cNvSpPr/>
          <p:nvPr/>
        </p:nvSpPr>
        <p:spPr>
          <a:xfrm>
            <a:off x="7251120" y="4343400"/>
            <a:ext cx="360" cy="274320"/>
          </a:xfrm>
          <a:prstGeom prst="line">
            <a:avLst/>
          </a:prstGeom>
          <a:ln w="17640">
            <a:solidFill>
              <a:srgbClr val="3c566b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Shape 43"/>
          <p:cNvSpPr/>
          <p:nvPr/>
        </p:nvSpPr>
        <p:spPr>
          <a:xfrm>
            <a:off x="6263640" y="4626720"/>
            <a:ext cx="1974600" cy="658080"/>
          </a:xfrm>
          <a:prstGeom prst="roundRect">
            <a:avLst>
              <a:gd name="adj" fmla="val 11111"/>
            </a:avLst>
          </a:prstGeom>
          <a:solidFill>
            <a:srgbClr val="f1f5f4"/>
          </a:solidFill>
          <a:ln w="12600">
            <a:solidFill>
              <a:srgbClr val="c8d8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Text 44"/>
          <p:cNvSpPr/>
          <p:nvPr/>
        </p:nvSpPr>
        <p:spPr>
          <a:xfrm>
            <a:off x="6336720" y="4681800"/>
            <a:ext cx="18284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30" strike="noStrike" u="none">
                <a:solidFill>
                  <a:srgbClr val="1f2933"/>
                </a:solidFill>
                <a:effectLst/>
                <a:uFillTx/>
                <a:latin typeface="Noto Sans CJK JP"/>
                <a:ea typeface="Noto Sans CJK JP"/>
              </a:rPr>
              <a:t>H(s)=Σ πᵢ exp(−rᵢ)</a:t>
            </a:r>
            <a:endParaRPr b="0" lang="en-US" sz="10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30" strike="noStrike" u="none">
                <a:solidFill>
                  <a:srgbClr val="1f2933"/>
                </a:solidFill>
                <a:effectLst/>
                <a:uFillTx/>
                <a:latin typeface="Noto Sans CJK JP"/>
                <a:ea typeface="Noto Sans CJK JP"/>
              </a:rPr>
              <a:t>cutoff = 7 Å</a:t>
            </a:r>
            <a:endParaRPr b="0" lang="en-US" sz="10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Shape 45"/>
          <p:cNvSpPr/>
          <p:nvPr/>
        </p:nvSpPr>
        <p:spPr>
          <a:xfrm>
            <a:off x="7251120" y="5285160"/>
            <a:ext cx="360" cy="274320"/>
          </a:xfrm>
          <a:prstGeom prst="line">
            <a:avLst/>
          </a:prstGeom>
          <a:ln w="17640">
            <a:solidFill>
              <a:srgbClr val="3c566b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Shape 46"/>
          <p:cNvSpPr/>
          <p:nvPr/>
        </p:nvSpPr>
        <p:spPr>
          <a:xfrm>
            <a:off x="6263640" y="5568840"/>
            <a:ext cx="1974600" cy="676440"/>
          </a:xfrm>
          <a:prstGeom prst="roundRect">
            <a:avLst>
              <a:gd name="adj" fmla="val 10811"/>
            </a:avLst>
          </a:prstGeom>
          <a:solidFill>
            <a:srgbClr val="eef3f7"/>
          </a:solidFill>
          <a:ln w="12600">
            <a:solidFill>
              <a:srgbClr val="d8de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Text 47"/>
          <p:cNvSpPr/>
          <p:nvPr/>
        </p:nvSpPr>
        <p:spPr>
          <a:xfrm>
            <a:off x="6336720" y="5623560"/>
            <a:ext cx="18284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1f2933"/>
                </a:solidFill>
                <a:effectLst/>
                <a:uFillTx/>
                <a:latin typeface="Noto Sans CJK JP"/>
                <a:ea typeface="Noto Sans CJK JP"/>
              </a:rPr>
              <a:t>q80</a:t>
            </a:r>
            <a:r>
              <a:rPr b="0" lang="zh-CN" sz="1000" strike="noStrike" u="none">
                <a:solidFill>
                  <a:srgbClr val="1f2933"/>
                </a:solidFill>
                <a:effectLst/>
                <a:uFillTx/>
                <a:latin typeface="Noto Sans CJK JP"/>
                <a:ea typeface="Noto Sans CJK JP"/>
              </a:rPr>
              <a:t>以上を </a:t>
            </a:r>
            <a:r>
              <a:rPr b="0" lang="en-US" sz="1000" strike="noStrike" u="none">
                <a:solidFill>
                  <a:srgbClr val="1f2933"/>
                </a:solidFill>
                <a:effectLst/>
                <a:uFillTx/>
                <a:latin typeface="Noto Sans CJK JP"/>
                <a:ea typeface="Noto Sans CJK JP"/>
              </a:rPr>
              <a:t>high-H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1f2933"/>
                </a:solidFill>
                <a:effectLst/>
                <a:uFillTx/>
                <a:latin typeface="Noto Sans CJK JP"/>
                <a:ea typeface="Noto Sans CJK JP"/>
              </a:rPr>
              <a:t>2 Å</a:t>
            </a:r>
            <a:r>
              <a:rPr b="0" lang="zh-CN" sz="1000" strike="noStrike" u="none">
                <a:solidFill>
                  <a:srgbClr val="1f2933"/>
                </a:solidFill>
                <a:effectLst/>
                <a:uFillTx/>
                <a:latin typeface="Noto Sans CJK JP"/>
                <a:ea typeface="Noto Sans CJK JP"/>
              </a:rPr>
              <a:t>以内を接続して</a:t>
            </a:r>
            <a:r>
              <a:rPr b="0" lang="en-US" sz="1000" strike="noStrike" u="none">
                <a:solidFill>
                  <a:srgbClr val="1f2933"/>
                </a:solidFill>
                <a:effectLst/>
                <a:uFillTx/>
                <a:latin typeface="Noto Sans CJK JP"/>
                <a:ea typeface="Noto Sans CJK JP"/>
              </a:rPr>
              <a:t>patch</a:t>
            </a:r>
            <a:r>
              <a:rPr b="0" lang="zh-CN" sz="1000" strike="noStrike" u="none">
                <a:solidFill>
                  <a:srgbClr val="1f2933"/>
                </a:solidFill>
                <a:effectLst/>
                <a:uFillTx/>
                <a:latin typeface="Noto Sans CJK JP"/>
                <a:ea typeface="Noto Sans CJK JP"/>
              </a:rPr>
              <a:t>化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Text 48"/>
          <p:cNvSpPr/>
          <p:nvPr/>
        </p:nvSpPr>
        <p:spPr>
          <a:xfrm>
            <a:off x="8549640" y="1828800"/>
            <a:ext cx="2605680" cy="48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1120" strike="noStrike" u="none">
                <a:solidFill>
                  <a:srgbClr val="1f2933"/>
                </a:solidFill>
                <a:effectLst/>
                <a:uFillTx/>
                <a:latin typeface="Noto Sans CJK JP"/>
                <a:ea typeface="Noto Sans CJK JP"/>
              </a:rPr>
              <a:t>表面全体の連続的な</a:t>
            </a:r>
            <a:endParaRPr b="0" lang="en-US" sz="11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20" strike="noStrike" u="none">
                <a:solidFill>
                  <a:srgbClr val="1f2933"/>
                </a:solidFill>
                <a:effectLst/>
                <a:uFillTx/>
                <a:latin typeface="Noto Sans CJK JP"/>
                <a:ea typeface="Noto Sans CJK JP"/>
              </a:rPr>
              <a:t>hydrophobic landscape</a:t>
            </a:r>
            <a:r>
              <a:rPr b="0" lang="zh-CN" sz="1120" strike="noStrike" u="none">
                <a:solidFill>
                  <a:srgbClr val="1f2933"/>
                </a:solidFill>
                <a:effectLst/>
                <a:uFillTx/>
                <a:latin typeface="Noto Sans CJK JP"/>
                <a:ea typeface="Noto Sans CJK JP"/>
              </a:rPr>
              <a:t>を記述</a:t>
            </a:r>
            <a:endParaRPr b="0" lang="en-US" sz="11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Shape 49"/>
          <p:cNvSpPr/>
          <p:nvPr/>
        </p:nvSpPr>
        <p:spPr>
          <a:xfrm>
            <a:off x="8732520" y="2697480"/>
            <a:ext cx="82080" cy="82080"/>
          </a:xfrm>
          <a:prstGeom prst="ellipse">
            <a:avLst/>
          </a:prstGeom>
          <a:solidFill>
            <a:srgbClr val="7f9e96"/>
          </a:solidFill>
          <a:ln w="126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3320" bIns="1332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3" name="Shape 50"/>
          <p:cNvSpPr/>
          <p:nvPr/>
        </p:nvSpPr>
        <p:spPr>
          <a:xfrm>
            <a:off x="8732520" y="2980800"/>
            <a:ext cx="104040" cy="104040"/>
          </a:xfrm>
          <a:prstGeom prst="ellipse">
            <a:avLst/>
          </a:prstGeom>
          <a:solidFill>
            <a:srgbClr val="cbd6d2"/>
          </a:solidFill>
          <a:ln w="126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8800" bIns="288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Shape 51"/>
          <p:cNvSpPr/>
          <p:nvPr/>
        </p:nvSpPr>
        <p:spPr>
          <a:xfrm>
            <a:off x="8732520" y="3264480"/>
            <a:ext cx="126000" cy="126000"/>
          </a:xfrm>
          <a:prstGeom prst="ellipse">
            <a:avLst/>
          </a:prstGeom>
          <a:solidFill>
            <a:srgbClr val="cbd6d2"/>
          </a:solidFill>
          <a:ln w="126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4280" bIns="4428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Shape 52"/>
          <p:cNvSpPr/>
          <p:nvPr/>
        </p:nvSpPr>
        <p:spPr>
          <a:xfrm>
            <a:off x="8732520" y="3547800"/>
            <a:ext cx="92880" cy="92880"/>
          </a:xfrm>
          <a:prstGeom prst="ellipse">
            <a:avLst/>
          </a:prstGeom>
          <a:solidFill>
            <a:srgbClr val="a7b9b4"/>
          </a:solidFill>
          <a:ln w="126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1240" bIns="2124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Shape 53"/>
          <p:cNvSpPr/>
          <p:nvPr/>
        </p:nvSpPr>
        <p:spPr>
          <a:xfrm>
            <a:off x="8732520" y="3831480"/>
            <a:ext cx="114840" cy="114840"/>
          </a:xfrm>
          <a:prstGeom prst="ellipse">
            <a:avLst/>
          </a:prstGeom>
          <a:solidFill>
            <a:srgbClr val="7f9e96"/>
          </a:solidFill>
          <a:ln w="126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6720" bIns="3672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7" name="Shape 54"/>
          <p:cNvSpPr/>
          <p:nvPr/>
        </p:nvSpPr>
        <p:spPr>
          <a:xfrm>
            <a:off x="9034200" y="2697480"/>
            <a:ext cx="82080" cy="82080"/>
          </a:xfrm>
          <a:prstGeom prst="ellipse">
            <a:avLst/>
          </a:prstGeom>
          <a:solidFill>
            <a:srgbClr val="cbd6d2"/>
          </a:solidFill>
          <a:ln w="126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3320" bIns="1332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Shape 55"/>
          <p:cNvSpPr/>
          <p:nvPr/>
        </p:nvSpPr>
        <p:spPr>
          <a:xfrm>
            <a:off x="9034200" y="2980800"/>
            <a:ext cx="104040" cy="104040"/>
          </a:xfrm>
          <a:prstGeom prst="ellipse">
            <a:avLst/>
          </a:prstGeom>
          <a:solidFill>
            <a:srgbClr val="a7b9b4"/>
          </a:solidFill>
          <a:ln w="126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8800" bIns="288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Shape 56"/>
          <p:cNvSpPr/>
          <p:nvPr/>
        </p:nvSpPr>
        <p:spPr>
          <a:xfrm>
            <a:off x="9034200" y="3264480"/>
            <a:ext cx="126000" cy="126000"/>
          </a:xfrm>
          <a:prstGeom prst="ellipse">
            <a:avLst/>
          </a:prstGeom>
          <a:solidFill>
            <a:srgbClr val="cbd6d2"/>
          </a:solidFill>
          <a:ln w="126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4280" bIns="4428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Shape 57"/>
          <p:cNvSpPr/>
          <p:nvPr/>
        </p:nvSpPr>
        <p:spPr>
          <a:xfrm>
            <a:off x="9034200" y="3547800"/>
            <a:ext cx="92880" cy="92880"/>
          </a:xfrm>
          <a:prstGeom prst="ellipse">
            <a:avLst/>
          </a:prstGeom>
          <a:solidFill>
            <a:srgbClr val="7f9e96"/>
          </a:solidFill>
          <a:ln w="126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1240" bIns="2124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1" name="Shape 58"/>
          <p:cNvSpPr/>
          <p:nvPr/>
        </p:nvSpPr>
        <p:spPr>
          <a:xfrm>
            <a:off x="9034200" y="3831480"/>
            <a:ext cx="114840" cy="114840"/>
          </a:xfrm>
          <a:prstGeom prst="ellipse">
            <a:avLst/>
          </a:prstGeom>
          <a:solidFill>
            <a:srgbClr val="a7b9b4"/>
          </a:solidFill>
          <a:ln w="126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6720" bIns="3672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Shape 59"/>
          <p:cNvSpPr/>
          <p:nvPr/>
        </p:nvSpPr>
        <p:spPr>
          <a:xfrm>
            <a:off x="9335880" y="2697480"/>
            <a:ext cx="82080" cy="82080"/>
          </a:xfrm>
          <a:prstGeom prst="ellipse">
            <a:avLst/>
          </a:prstGeom>
          <a:solidFill>
            <a:srgbClr val="cbd6d2"/>
          </a:solidFill>
          <a:ln w="126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3320" bIns="1332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Shape 60"/>
          <p:cNvSpPr/>
          <p:nvPr/>
        </p:nvSpPr>
        <p:spPr>
          <a:xfrm>
            <a:off x="9335880" y="2980800"/>
            <a:ext cx="104040" cy="104040"/>
          </a:xfrm>
          <a:prstGeom prst="ellipse">
            <a:avLst/>
          </a:prstGeom>
          <a:solidFill>
            <a:srgbClr val="cbd6d2"/>
          </a:solidFill>
          <a:ln w="126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8800" bIns="288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Shape 61"/>
          <p:cNvSpPr/>
          <p:nvPr/>
        </p:nvSpPr>
        <p:spPr>
          <a:xfrm>
            <a:off x="9335880" y="3264480"/>
            <a:ext cx="126000" cy="126000"/>
          </a:xfrm>
          <a:prstGeom prst="ellipse">
            <a:avLst/>
          </a:prstGeom>
          <a:solidFill>
            <a:srgbClr val="7f9e96"/>
          </a:solidFill>
          <a:ln w="126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4280" bIns="4428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5" name="Shape 62"/>
          <p:cNvSpPr/>
          <p:nvPr/>
        </p:nvSpPr>
        <p:spPr>
          <a:xfrm>
            <a:off x="9335880" y="3547800"/>
            <a:ext cx="92880" cy="92880"/>
          </a:xfrm>
          <a:prstGeom prst="ellipse">
            <a:avLst/>
          </a:prstGeom>
          <a:solidFill>
            <a:srgbClr val="cbd6d2"/>
          </a:solidFill>
          <a:ln w="126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1240" bIns="2124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Shape 63"/>
          <p:cNvSpPr/>
          <p:nvPr/>
        </p:nvSpPr>
        <p:spPr>
          <a:xfrm>
            <a:off x="9335880" y="3831480"/>
            <a:ext cx="114840" cy="114840"/>
          </a:xfrm>
          <a:prstGeom prst="ellipse">
            <a:avLst/>
          </a:prstGeom>
          <a:solidFill>
            <a:srgbClr val="cbd6d2"/>
          </a:solidFill>
          <a:ln w="126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6720" bIns="3672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Shape 64"/>
          <p:cNvSpPr/>
          <p:nvPr/>
        </p:nvSpPr>
        <p:spPr>
          <a:xfrm>
            <a:off x="9637920" y="2697480"/>
            <a:ext cx="82080" cy="82080"/>
          </a:xfrm>
          <a:prstGeom prst="ellipse">
            <a:avLst/>
          </a:prstGeom>
          <a:solidFill>
            <a:srgbClr val="a7b9b4"/>
          </a:solidFill>
          <a:ln w="126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3320" bIns="1332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Shape 65"/>
          <p:cNvSpPr/>
          <p:nvPr/>
        </p:nvSpPr>
        <p:spPr>
          <a:xfrm>
            <a:off x="9637920" y="2980800"/>
            <a:ext cx="104040" cy="104040"/>
          </a:xfrm>
          <a:prstGeom prst="ellipse">
            <a:avLst/>
          </a:prstGeom>
          <a:solidFill>
            <a:srgbClr val="7f9e96"/>
          </a:solidFill>
          <a:ln w="126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8800" bIns="288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9" name="Shape 66"/>
          <p:cNvSpPr/>
          <p:nvPr/>
        </p:nvSpPr>
        <p:spPr>
          <a:xfrm>
            <a:off x="9637920" y="3264480"/>
            <a:ext cx="126000" cy="126000"/>
          </a:xfrm>
          <a:prstGeom prst="ellipse">
            <a:avLst/>
          </a:prstGeom>
          <a:solidFill>
            <a:srgbClr val="cbd6d2"/>
          </a:solidFill>
          <a:ln w="126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4280" bIns="4428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Shape 67"/>
          <p:cNvSpPr/>
          <p:nvPr/>
        </p:nvSpPr>
        <p:spPr>
          <a:xfrm>
            <a:off x="9637920" y="3547800"/>
            <a:ext cx="92880" cy="92880"/>
          </a:xfrm>
          <a:prstGeom prst="ellipse">
            <a:avLst/>
          </a:prstGeom>
          <a:solidFill>
            <a:srgbClr val="a7b9b4"/>
          </a:solidFill>
          <a:ln w="126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1240" bIns="2124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Shape 68"/>
          <p:cNvSpPr/>
          <p:nvPr/>
        </p:nvSpPr>
        <p:spPr>
          <a:xfrm>
            <a:off x="9637920" y="3831480"/>
            <a:ext cx="114840" cy="114840"/>
          </a:xfrm>
          <a:prstGeom prst="ellipse">
            <a:avLst/>
          </a:prstGeom>
          <a:solidFill>
            <a:srgbClr val="cbd6d2"/>
          </a:solidFill>
          <a:ln w="126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6720" bIns="3672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" name="Shape 69"/>
          <p:cNvSpPr/>
          <p:nvPr/>
        </p:nvSpPr>
        <p:spPr>
          <a:xfrm>
            <a:off x="9939600" y="2697480"/>
            <a:ext cx="82080" cy="82080"/>
          </a:xfrm>
          <a:prstGeom prst="ellipse">
            <a:avLst/>
          </a:prstGeom>
          <a:solidFill>
            <a:srgbClr val="7f9e96"/>
          </a:solidFill>
          <a:ln w="126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3320" bIns="1332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3" name="Shape 70"/>
          <p:cNvSpPr/>
          <p:nvPr/>
        </p:nvSpPr>
        <p:spPr>
          <a:xfrm>
            <a:off x="9939600" y="2980800"/>
            <a:ext cx="104040" cy="104040"/>
          </a:xfrm>
          <a:prstGeom prst="ellipse">
            <a:avLst/>
          </a:prstGeom>
          <a:solidFill>
            <a:srgbClr val="a7b9b4"/>
          </a:solidFill>
          <a:ln w="126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8800" bIns="288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Shape 71"/>
          <p:cNvSpPr/>
          <p:nvPr/>
        </p:nvSpPr>
        <p:spPr>
          <a:xfrm>
            <a:off x="9939600" y="3264480"/>
            <a:ext cx="126000" cy="126000"/>
          </a:xfrm>
          <a:prstGeom prst="ellipse">
            <a:avLst/>
          </a:prstGeom>
          <a:solidFill>
            <a:srgbClr val="cbd6d2"/>
          </a:solidFill>
          <a:ln w="126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4280" bIns="4428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Shape 72"/>
          <p:cNvSpPr/>
          <p:nvPr/>
        </p:nvSpPr>
        <p:spPr>
          <a:xfrm>
            <a:off x="9939600" y="3547800"/>
            <a:ext cx="92880" cy="92880"/>
          </a:xfrm>
          <a:prstGeom prst="ellipse">
            <a:avLst/>
          </a:prstGeom>
          <a:solidFill>
            <a:srgbClr val="cbd6d2"/>
          </a:solidFill>
          <a:ln w="126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1240" bIns="2124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Shape 73"/>
          <p:cNvSpPr/>
          <p:nvPr/>
        </p:nvSpPr>
        <p:spPr>
          <a:xfrm>
            <a:off x="9939600" y="3831480"/>
            <a:ext cx="114840" cy="114840"/>
          </a:xfrm>
          <a:prstGeom prst="ellipse">
            <a:avLst/>
          </a:prstGeom>
          <a:solidFill>
            <a:srgbClr val="7f9e96"/>
          </a:solidFill>
          <a:ln w="126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6720" bIns="3672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7" name="Shape 74"/>
          <p:cNvSpPr/>
          <p:nvPr/>
        </p:nvSpPr>
        <p:spPr>
          <a:xfrm>
            <a:off x="10241280" y="2697480"/>
            <a:ext cx="82080" cy="82080"/>
          </a:xfrm>
          <a:prstGeom prst="ellipse">
            <a:avLst/>
          </a:prstGeom>
          <a:solidFill>
            <a:srgbClr val="cbd6d2"/>
          </a:solidFill>
          <a:ln w="126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3320" bIns="1332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Shape 75"/>
          <p:cNvSpPr/>
          <p:nvPr/>
        </p:nvSpPr>
        <p:spPr>
          <a:xfrm>
            <a:off x="10241280" y="2980800"/>
            <a:ext cx="104040" cy="104040"/>
          </a:xfrm>
          <a:prstGeom prst="ellipse">
            <a:avLst/>
          </a:prstGeom>
          <a:solidFill>
            <a:srgbClr val="cbd6d2"/>
          </a:solidFill>
          <a:ln w="126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8800" bIns="288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Shape 76"/>
          <p:cNvSpPr/>
          <p:nvPr/>
        </p:nvSpPr>
        <p:spPr>
          <a:xfrm>
            <a:off x="10241280" y="3264480"/>
            <a:ext cx="126000" cy="126000"/>
          </a:xfrm>
          <a:prstGeom prst="ellipse">
            <a:avLst/>
          </a:prstGeom>
          <a:solidFill>
            <a:srgbClr val="a7b9b4"/>
          </a:solidFill>
          <a:ln w="126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4280" bIns="4428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Shape 77"/>
          <p:cNvSpPr/>
          <p:nvPr/>
        </p:nvSpPr>
        <p:spPr>
          <a:xfrm>
            <a:off x="10241280" y="3547800"/>
            <a:ext cx="92880" cy="92880"/>
          </a:xfrm>
          <a:prstGeom prst="ellipse">
            <a:avLst/>
          </a:prstGeom>
          <a:solidFill>
            <a:srgbClr val="7f9e96"/>
          </a:solidFill>
          <a:ln w="126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1240" bIns="2124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1" name="Shape 78"/>
          <p:cNvSpPr/>
          <p:nvPr/>
        </p:nvSpPr>
        <p:spPr>
          <a:xfrm>
            <a:off x="10241280" y="3831480"/>
            <a:ext cx="114840" cy="114840"/>
          </a:xfrm>
          <a:prstGeom prst="ellipse">
            <a:avLst/>
          </a:prstGeom>
          <a:solidFill>
            <a:srgbClr val="cbd6d2"/>
          </a:solidFill>
          <a:ln w="126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6720" bIns="3672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Shape 79"/>
          <p:cNvSpPr/>
          <p:nvPr/>
        </p:nvSpPr>
        <p:spPr>
          <a:xfrm>
            <a:off x="10542960" y="2697480"/>
            <a:ext cx="82080" cy="82080"/>
          </a:xfrm>
          <a:prstGeom prst="ellipse">
            <a:avLst/>
          </a:prstGeom>
          <a:solidFill>
            <a:srgbClr val="a7b9b4"/>
          </a:solidFill>
          <a:ln w="126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3320" bIns="1332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3" name="Shape 80"/>
          <p:cNvSpPr/>
          <p:nvPr/>
        </p:nvSpPr>
        <p:spPr>
          <a:xfrm>
            <a:off x="10542960" y="2980800"/>
            <a:ext cx="104040" cy="104040"/>
          </a:xfrm>
          <a:prstGeom prst="ellipse">
            <a:avLst/>
          </a:prstGeom>
          <a:solidFill>
            <a:srgbClr val="cbd6d2"/>
          </a:solidFill>
          <a:ln w="126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8800" bIns="288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4" name="Shape 81"/>
          <p:cNvSpPr/>
          <p:nvPr/>
        </p:nvSpPr>
        <p:spPr>
          <a:xfrm>
            <a:off x="10542960" y="3264480"/>
            <a:ext cx="126000" cy="126000"/>
          </a:xfrm>
          <a:prstGeom prst="ellipse">
            <a:avLst/>
          </a:prstGeom>
          <a:solidFill>
            <a:srgbClr val="7f9e96"/>
          </a:solidFill>
          <a:ln w="126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4280" bIns="4428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5" name="Shape 82"/>
          <p:cNvSpPr/>
          <p:nvPr/>
        </p:nvSpPr>
        <p:spPr>
          <a:xfrm>
            <a:off x="10542960" y="3547800"/>
            <a:ext cx="92880" cy="92880"/>
          </a:xfrm>
          <a:prstGeom prst="ellipse">
            <a:avLst/>
          </a:prstGeom>
          <a:solidFill>
            <a:srgbClr val="a7b9b4"/>
          </a:solidFill>
          <a:ln w="126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1240" bIns="2124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" name="Shape 83"/>
          <p:cNvSpPr/>
          <p:nvPr/>
        </p:nvSpPr>
        <p:spPr>
          <a:xfrm>
            <a:off x="10542960" y="3831480"/>
            <a:ext cx="114840" cy="114840"/>
          </a:xfrm>
          <a:prstGeom prst="ellipse">
            <a:avLst/>
          </a:prstGeom>
          <a:solidFill>
            <a:srgbClr val="cbd6d2"/>
          </a:solidFill>
          <a:ln w="126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6720" bIns="3672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7" name="Text 84"/>
          <p:cNvSpPr/>
          <p:nvPr/>
        </p:nvSpPr>
        <p:spPr>
          <a:xfrm>
            <a:off x="8549640" y="4187880"/>
            <a:ext cx="28800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1000" strike="noStrike" u="none">
                <a:solidFill>
                  <a:srgbClr val="5e6b75"/>
                </a:solidFill>
                <a:effectLst/>
                <a:uFillTx/>
                <a:latin typeface="Noto Sans CJK JP"/>
                <a:ea typeface="Noto Sans CJK JP"/>
              </a:rPr>
              <a:t>高</a:t>
            </a:r>
            <a:r>
              <a:rPr b="0" lang="en-US" sz="1000" strike="noStrike" u="none">
                <a:solidFill>
                  <a:srgbClr val="5e6b75"/>
                </a:solidFill>
                <a:effectLst/>
                <a:uFillTx/>
                <a:latin typeface="Noto Sans CJK JP"/>
                <a:ea typeface="Noto Sans CJK JP"/>
              </a:rPr>
              <a:t>field</a:t>
            </a:r>
            <a:r>
              <a:rPr b="0" lang="zh-CN" sz="1000" strike="noStrike" u="none">
                <a:solidFill>
                  <a:srgbClr val="5e6b75"/>
                </a:solidFill>
                <a:effectLst/>
                <a:uFillTx/>
                <a:latin typeface="Noto Sans CJK JP"/>
                <a:ea typeface="Noto Sans CJK JP"/>
              </a:rPr>
              <a:t>点の分布 → </a:t>
            </a:r>
            <a:r>
              <a:rPr b="0" lang="en-US" sz="1000" strike="noStrike" u="none">
                <a:solidFill>
                  <a:srgbClr val="5e6b75"/>
                </a:solidFill>
                <a:effectLst/>
                <a:uFillTx/>
                <a:latin typeface="Noto Sans CJK JP"/>
                <a:ea typeface="Noto Sans CJK JP"/>
              </a:rPr>
              <a:t>patch / CDR</a:t>
            </a:r>
            <a:r>
              <a:rPr b="0" lang="zh-CN" sz="1000" strike="noStrike" u="none">
                <a:solidFill>
                  <a:srgbClr val="5e6b75"/>
                </a:solidFill>
                <a:effectLst/>
                <a:uFillTx/>
                <a:latin typeface="Noto Sans CJK JP"/>
                <a:ea typeface="Noto Sans CJK JP"/>
              </a:rPr>
              <a:t>集計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" name="Text 85"/>
          <p:cNvSpPr/>
          <p:nvPr/>
        </p:nvSpPr>
        <p:spPr>
          <a:xfrm>
            <a:off x="8485560" y="4727520"/>
            <a:ext cx="2944080" cy="57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5e6b75"/>
                </a:solidFill>
                <a:effectLst/>
                <a:uFillTx/>
                <a:latin typeface="Noto Sans CJK JP"/>
                <a:ea typeface="Noto Sans CJK JP"/>
              </a:rPr>
              <a:t>16</a:t>
            </a:r>
            <a:r>
              <a:rPr b="0" lang="zh-CN" sz="1000" strike="noStrike" u="none">
                <a:solidFill>
                  <a:srgbClr val="5e6b75"/>
                </a:solidFill>
                <a:effectLst/>
                <a:uFillTx/>
                <a:latin typeface="Noto Sans CJK JP"/>
                <a:ea typeface="Noto Sans CJK JP"/>
              </a:rPr>
              <a:t>列には </a:t>
            </a:r>
            <a:r>
              <a:rPr b="0" lang="en-US" sz="1000" strike="noStrike" u="none">
                <a:solidFill>
                  <a:srgbClr val="5e6b75"/>
                </a:solidFill>
                <a:effectLst/>
                <a:uFillTx/>
                <a:latin typeface="Noto Sans CJK JP"/>
                <a:ea typeface="Noto Sans CJK JP"/>
              </a:rPr>
              <a:t>mean/q75/q90/q95/max</a:t>
            </a:r>
            <a:r>
              <a:rPr b="0" lang="zh-CN" sz="1000" strike="noStrike" u="none">
                <a:solidFill>
                  <a:srgbClr val="5e6b75"/>
                </a:solidFill>
                <a:effectLst/>
                <a:uFillTx/>
                <a:latin typeface="Noto Sans CJK JP"/>
                <a:ea typeface="Noto Sans CJK JP"/>
              </a:rPr>
              <a:t>、</a:t>
            </a:r>
            <a:r>
              <a:rPr b="0" lang="en-US" sz="1000" strike="noStrike" u="none">
                <a:solidFill>
                  <a:srgbClr val="5e6b75"/>
                </a:solidFill>
                <a:effectLst/>
                <a:uFillTx/>
                <a:latin typeface="Noto Sans CJK JP"/>
                <a:ea typeface="Noto Sans CJK JP"/>
              </a:rPr>
              <a:t>positive area</a:t>
            </a:r>
            <a:r>
              <a:rPr b="0" lang="zh-CN" sz="1000" strike="noStrike" u="none">
                <a:solidFill>
                  <a:srgbClr val="5e6b75"/>
                </a:solidFill>
                <a:effectLst/>
                <a:uFillTx/>
                <a:latin typeface="Noto Sans CJK JP"/>
                <a:ea typeface="Noto Sans CJK JP"/>
              </a:rPr>
              <a:t>、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5e6b75"/>
                </a:solidFill>
                <a:effectLst/>
                <a:uFillTx/>
                <a:latin typeface="Noto Sans CJK JP"/>
                <a:ea typeface="Noto Sans CJK JP"/>
              </a:rPr>
              <a:t>top10%</a:t>
            </a:r>
            <a:r>
              <a:rPr b="0" lang="zh-CN" sz="1000" strike="noStrike" u="none">
                <a:solidFill>
                  <a:srgbClr val="5e6b75"/>
                </a:solidFill>
                <a:effectLst/>
                <a:uFillTx/>
                <a:latin typeface="Noto Sans CJK JP"/>
                <a:ea typeface="Noto Sans CJK JP"/>
              </a:rPr>
              <a:t>、</a:t>
            </a:r>
            <a:r>
              <a:rPr b="0" lang="en-US" sz="1000" strike="noStrike" u="none">
                <a:solidFill>
                  <a:srgbClr val="5e6b75"/>
                </a:solidFill>
                <a:effectLst/>
                <a:uFillTx/>
                <a:latin typeface="Noto Sans CJK JP"/>
                <a:ea typeface="Noto Sans CJK JP"/>
              </a:rPr>
              <a:t>high-H patch</a:t>
            </a:r>
            <a:r>
              <a:rPr b="0" lang="zh-CN" sz="1000" strike="noStrike" u="none">
                <a:solidFill>
                  <a:srgbClr val="5e6b75"/>
                </a:solidFill>
                <a:effectLst/>
                <a:uFillTx/>
                <a:latin typeface="Noto Sans CJK JP"/>
                <a:ea typeface="Noto Sans CJK JP"/>
              </a:rPr>
              <a:t>、</a:t>
            </a:r>
            <a:r>
              <a:rPr b="0" lang="en-US" sz="1000" strike="noStrike" u="none">
                <a:solidFill>
                  <a:srgbClr val="5e6b75"/>
                </a:solidFill>
                <a:effectLst/>
                <a:uFillTx/>
                <a:latin typeface="Noto Sans CJK JP"/>
                <a:ea typeface="Noto Sans CJK JP"/>
              </a:rPr>
              <a:t>CDR-specific field</a:t>
            </a:r>
            <a:r>
              <a:rPr b="0" lang="zh-CN" sz="1000" strike="noStrike" u="none">
                <a:solidFill>
                  <a:srgbClr val="5e6b75"/>
                </a:solidFill>
                <a:effectLst/>
                <a:uFillTx/>
                <a:latin typeface="Noto Sans CJK JP"/>
                <a:ea typeface="Noto Sans CJK JP"/>
              </a:rPr>
              <a:t>などを含む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9" name="Text 86"/>
          <p:cNvSpPr/>
          <p:nvPr/>
        </p:nvSpPr>
        <p:spPr>
          <a:xfrm>
            <a:off x="8485560" y="5660280"/>
            <a:ext cx="2971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30" strike="noStrike" u="none">
                <a:solidFill>
                  <a:srgbClr val="5e6b75"/>
                </a:solidFill>
                <a:effectLst/>
                <a:uFillTx/>
                <a:latin typeface="Noto Sans CJK JP"/>
                <a:ea typeface="Noto Sans CJK JP"/>
              </a:rPr>
              <a:t>※ 全</a:t>
            </a:r>
            <a:r>
              <a:rPr b="0" lang="en-US" sz="930" strike="noStrike" u="none">
                <a:solidFill>
                  <a:srgbClr val="5e6b75"/>
                </a:solidFill>
                <a:effectLst/>
                <a:uFillTx/>
                <a:latin typeface="Noto Sans CJK JP"/>
                <a:ea typeface="Noto Sans CJK JP"/>
              </a:rPr>
              <a:t>19</a:t>
            </a:r>
            <a:r>
              <a:rPr b="0" lang="zh-CN" sz="930" strike="noStrike" u="none">
                <a:solidFill>
                  <a:srgbClr val="5e6b75"/>
                </a:solidFill>
                <a:effectLst/>
                <a:uFillTx/>
                <a:latin typeface="Noto Sans CJK JP"/>
                <a:ea typeface="Noto Sans CJK JP"/>
              </a:rPr>
              <a:t>列 </a:t>
            </a:r>
            <a:r>
              <a:rPr b="0" lang="en-US" sz="930" strike="noStrike" u="none">
                <a:solidFill>
                  <a:srgbClr val="5e6b75"/>
                </a:solidFill>
                <a:effectLst/>
                <a:uFillTx/>
                <a:latin typeface="Noto Sans CJK JP"/>
                <a:ea typeface="Noto Sans CJK JP"/>
              </a:rPr>
              <a:t>/ 16</a:t>
            </a:r>
            <a:r>
              <a:rPr b="0" lang="zh-CN" sz="930" strike="noStrike" u="none">
                <a:solidFill>
                  <a:srgbClr val="5e6b75"/>
                </a:solidFill>
                <a:effectLst/>
                <a:uFillTx/>
                <a:latin typeface="Noto Sans CJK JP"/>
                <a:ea typeface="Noto Sans CJK JP"/>
              </a:rPr>
              <a:t>列の</a:t>
            </a:r>
            <a:r>
              <a:rPr b="0" lang="en-US" sz="930" strike="noStrike" u="none">
                <a:solidFill>
                  <a:srgbClr val="5e6b75"/>
                </a:solidFill>
                <a:effectLst/>
                <a:uFillTx/>
                <a:latin typeface="Noto Sans CJK JP"/>
                <a:ea typeface="Noto Sans CJK JP"/>
              </a:rPr>
              <a:t>exact definition</a:t>
            </a:r>
            <a:r>
              <a:rPr b="0" lang="zh-CN" sz="930" strike="noStrike" u="none">
                <a:solidFill>
                  <a:srgbClr val="5e6b75"/>
                </a:solidFill>
                <a:effectLst/>
                <a:uFillTx/>
                <a:latin typeface="Noto Sans CJK JP"/>
                <a:ea typeface="Noto Sans CJK JP"/>
              </a:rPr>
              <a:t>は技術レポート本文</a:t>
            </a:r>
            <a:r>
              <a:rPr b="0" lang="en-US" sz="930" strike="noStrike" u="none">
                <a:solidFill>
                  <a:srgbClr val="5e6b75"/>
                </a:solidFill>
                <a:effectLst/>
                <a:uFillTx/>
                <a:latin typeface="Noto Sans CJK JP"/>
                <a:ea typeface="Noto Sans CJK JP"/>
              </a:rPr>
              <a:t>Appendix</a:t>
            </a:r>
            <a:r>
              <a:rPr b="0" lang="zh-CN" sz="930" strike="noStrike" u="none">
                <a:solidFill>
                  <a:srgbClr val="5e6b75"/>
                </a:solidFill>
                <a:effectLst/>
                <a:uFillTx/>
                <a:latin typeface="Noto Sans CJK JP"/>
                <a:ea typeface="Noto Sans CJK JP"/>
              </a:rPr>
              <a:t>を参照。</a:t>
            </a:r>
            <a:endParaRPr b="0" lang="en-US" sz="9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0" name="PlaceHolder 1"/>
          <p:cNvSpPr>
            <a:spLocks noGrp="1"/>
          </p:cNvSpPr>
          <p:nvPr>
            <p:ph type="sldNum" idx="8"/>
          </p:nvPr>
        </p:nvSpPr>
        <p:spPr>
          <a:xfrm>
            <a:off x="11640240" y="645552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850" strike="noStrike" u="none">
                <a:solidFill>
                  <a:srgbClr val="6b7785"/>
                </a:solidFill>
                <a:effectLst/>
                <a:uFillTx/>
                <a:latin typeface="Noto Sans CJK JP"/>
                <a:ea typeface="Noto Sans CJK JP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9A7995D8-7712-403D-81E9-0B8BFA40B166}" type="slidenum">
              <a:rPr b="0" lang="en-US" sz="850" strike="noStrike" u="none">
                <a:solidFill>
                  <a:srgbClr val="6b7785"/>
                </a:solidFill>
                <a:effectLst/>
                <a:uFillTx/>
                <a:latin typeface="Noto Sans CJK JP"/>
                <a:ea typeface="Noto Sans CJK JP"/>
              </a:rPr>
              <a:t>&lt;number&gt;</a:t>
            </a:fld>
            <a:endParaRPr b="0" lang="en-US" sz="8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LibreOffice/25.2.3.2$Linux_X86_64 LibreOffice_project/520$Build-2</Application>
  <AppVersion>15.0000</AppVersion>
  <Company>OpenAI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2026-09-10T22:56:51Z</dcterms:created>
  <dc:creator>OpenAI</dc:creator>
  <dc:description/>
  <dc:language>en-US</dc:language>
  <cp:lastModifiedBy>OpenAI</cp:lastModifiedBy>
  <dcterms:modified xsi:type="dcterms:W3CDTF">2026-09-10T22:56:51Z</dcterms:modified>
  <cp:revision>1</cp:revision>
  <dc:subject>Antibody Developability Transformer</dc:subject>
  <dc:title>抗体配列のDevelopability予測へのTransformerの応用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4</vt:r8>
  </property>
  <property fmtid="{D5CDD505-2E9C-101B-9397-08002B2CF9AE}" pid="3" name="PresentationFormat">
    <vt:lpwstr>On-screen Show (16:9)</vt:lpwstr>
  </property>
  <property fmtid="{D5CDD505-2E9C-101B-9397-08002B2CF9AE}" pid="4" name="Slides">
    <vt:r8>4</vt:r8>
  </property>
</Properties>
</file>